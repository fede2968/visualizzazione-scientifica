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Poppins Light" charset="1" panose="00000400000000000000"/>
      <p:regular r:id="rId44"/>
    </p:embeddedFont>
    <p:embeddedFont>
      <p:font typeface="HK Modular" charset="1" panose="00000800000000000000"/>
      <p:regular r:id="rId45"/>
    </p:embeddedFont>
    <p:embeddedFont>
      <p:font typeface="Canva Sans Bold" charset="1" panose="020B0803030501040103"/>
      <p:regular r:id="rId46"/>
    </p:embeddedFont>
    <p:embeddedFont>
      <p:font typeface="Canva Sans Italics" charset="1" panose="020B0503030501040103"/>
      <p:regular r:id="rId47"/>
    </p:embeddedFont>
    <p:embeddedFont>
      <p:font typeface="Etna Sans Serif" charset="1" panose="02000600000000000000"/>
      <p:regular r:id="rId48"/>
    </p:embeddedFont>
    <p:embeddedFont>
      <p:font typeface="Poppins Bold" charset="1" panose="00000800000000000000"/>
      <p:regular r:id="rId49"/>
    </p:embeddedFont>
    <p:embeddedFont>
      <p:font typeface="Poppins" charset="1" panose="00000500000000000000"/>
      <p:regular r:id="rId50"/>
    </p:embeddedFont>
    <p:embeddedFont>
      <p:font typeface="Poppins Semi-Bold" charset="1" panose="00000700000000000000"/>
      <p:regular r:id="rId51"/>
    </p:embeddedFont>
    <p:embeddedFont>
      <p:font typeface="Arimo" charset="1" panose="020B0604020202020204"/>
      <p:regular r:id="rId5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8.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3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686257" y="-751827"/>
            <a:ext cx="9030960" cy="11146926"/>
            <a:chOff x="0" y="0"/>
            <a:chExt cx="2378524" cy="2935816"/>
          </a:xfrm>
        </p:grpSpPr>
        <p:sp>
          <p:nvSpPr>
            <p:cNvPr name="Freeform 4" id="4"/>
            <p:cNvSpPr/>
            <p:nvPr/>
          </p:nvSpPr>
          <p:spPr>
            <a:xfrm flipH="false" flipV="false" rot="0">
              <a:off x="0" y="0"/>
              <a:ext cx="2378524" cy="2935816"/>
            </a:xfrm>
            <a:custGeom>
              <a:avLst/>
              <a:gdLst/>
              <a:ahLst/>
              <a:cxnLst/>
              <a:rect r="r" b="b" t="t" l="l"/>
              <a:pathLst>
                <a:path h="2935816" w="2378524">
                  <a:moveTo>
                    <a:pt x="0" y="0"/>
                  </a:moveTo>
                  <a:lnTo>
                    <a:pt x="2378524" y="0"/>
                  </a:lnTo>
                  <a:lnTo>
                    <a:pt x="2378524" y="2935816"/>
                  </a:lnTo>
                  <a:lnTo>
                    <a:pt x="0" y="2935816"/>
                  </a:lnTo>
                  <a:close/>
                </a:path>
              </a:pathLst>
            </a:custGeom>
            <a:gradFill rotWithShape="true">
              <a:gsLst>
                <a:gs pos="0">
                  <a:srgbClr val="071121">
                    <a:alpha val="100000"/>
                  </a:srgbClr>
                </a:gs>
                <a:gs pos="50000">
                  <a:srgbClr val="060F1F">
                    <a:alpha val="78500"/>
                  </a:srgbClr>
                </a:gs>
                <a:gs pos="100000">
                  <a:srgbClr val="060F1F">
                    <a:alpha val="0"/>
                  </a:srgbClr>
                </a:gs>
              </a:gsLst>
              <a:lin ang="0"/>
            </a:gradFill>
          </p:spPr>
        </p:sp>
        <p:sp>
          <p:nvSpPr>
            <p:cNvPr name="TextBox 5" id="5"/>
            <p:cNvSpPr txBox="true"/>
            <p:nvPr/>
          </p:nvSpPr>
          <p:spPr>
            <a:xfrm>
              <a:off x="0" y="0"/>
              <a:ext cx="2378524" cy="2935816"/>
            </a:xfrm>
            <a:prstGeom prst="rect">
              <a:avLst/>
            </a:prstGeom>
          </p:spPr>
          <p:txBody>
            <a:bodyPr anchor="ctr" rtlCol="false" tIns="50800" lIns="50800" bIns="50800" rIns="50800"/>
            <a:lstStyle/>
            <a:p>
              <a:pPr algn="ctr">
                <a:lnSpc>
                  <a:spcPts val="1917"/>
                </a:lnSpc>
              </a:pPr>
            </a:p>
          </p:txBody>
        </p:sp>
      </p:grpSp>
      <p:sp>
        <p:nvSpPr>
          <p:cNvPr name="Freeform 6" id="6"/>
          <p:cNvSpPr/>
          <p:nvPr/>
        </p:nvSpPr>
        <p:spPr>
          <a:xfrm flipH="false" flipV="false" rot="0">
            <a:off x="6369162" y="8872583"/>
            <a:ext cx="5549677" cy="506253"/>
          </a:xfrm>
          <a:custGeom>
            <a:avLst/>
            <a:gdLst/>
            <a:ahLst/>
            <a:cxnLst/>
            <a:rect r="r" b="b" t="t" l="l"/>
            <a:pathLst>
              <a:path h="506253" w="5549677">
                <a:moveTo>
                  <a:pt x="0" y="0"/>
                </a:moveTo>
                <a:lnTo>
                  <a:pt x="5549676" y="0"/>
                </a:lnTo>
                <a:lnTo>
                  <a:pt x="5549676" y="506253"/>
                </a:lnTo>
                <a:lnTo>
                  <a:pt x="0" y="5062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2092719" y="3995095"/>
            <a:ext cx="14371257" cy="2061703"/>
            <a:chOff x="0" y="0"/>
            <a:chExt cx="3785022" cy="543000"/>
          </a:xfrm>
        </p:grpSpPr>
        <p:sp>
          <p:nvSpPr>
            <p:cNvPr name="Freeform 8" id="8"/>
            <p:cNvSpPr/>
            <p:nvPr/>
          </p:nvSpPr>
          <p:spPr>
            <a:xfrm flipH="false" flipV="false" rot="0">
              <a:off x="0" y="0"/>
              <a:ext cx="3785022" cy="543000"/>
            </a:xfrm>
            <a:custGeom>
              <a:avLst/>
              <a:gdLst/>
              <a:ahLst/>
              <a:cxnLst/>
              <a:rect r="r" b="b" t="t" l="l"/>
              <a:pathLst>
                <a:path h="543000" w="3785022">
                  <a:moveTo>
                    <a:pt x="0" y="0"/>
                  </a:moveTo>
                  <a:lnTo>
                    <a:pt x="3785022" y="0"/>
                  </a:lnTo>
                  <a:lnTo>
                    <a:pt x="3785022" y="543000"/>
                  </a:lnTo>
                  <a:lnTo>
                    <a:pt x="0" y="543000"/>
                  </a:lnTo>
                  <a:close/>
                </a:path>
              </a:pathLst>
            </a:custGeom>
            <a:solidFill>
              <a:srgbClr val="000000">
                <a:alpha val="0"/>
              </a:srgbClr>
            </a:solidFill>
            <a:ln w="19050" cap="sq">
              <a:gradFill>
                <a:gsLst>
                  <a:gs pos="0">
                    <a:srgbClr val="FFFFFF">
                      <a:alpha val="100000"/>
                    </a:srgbClr>
                  </a:gs>
                  <a:gs pos="100000">
                    <a:srgbClr val="FFC1C1">
                      <a:alpha val="2500"/>
                    </a:srgbClr>
                  </a:gs>
                </a:gsLst>
                <a:lin ang="0"/>
              </a:gradFill>
              <a:prstDash val="solid"/>
              <a:miter/>
            </a:ln>
          </p:spPr>
        </p:sp>
        <p:sp>
          <p:nvSpPr>
            <p:cNvPr name="TextBox 9" id="9"/>
            <p:cNvSpPr txBox="true"/>
            <p:nvPr/>
          </p:nvSpPr>
          <p:spPr>
            <a:xfrm>
              <a:off x="0" y="0"/>
              <a:ext cx="3785022" cy="543000"/>
            </a:xfrm>
            <a:prstGeom prst="rect">
              <a:avLst/>
            </a:prstGeom>
          </p:spPr>
          <p:txBody>
            <a:bodyPr anchor="ctr" rtlCol="false" tIns="50800" lIns="50800" bIns="50800" rIns="50800"/>
            <a:lstStyle/>
            <a:p>
              <a:pPr algn="ctr">
                <a:lnSpc>
                  <a:spcPts val="1917"/>
                </a:lnSpc>
              </a:pPr>
            </a:p>
          </p:txBody>
        </p:sp>
      </p:grpSp>
      <p:sp>
        <p:nvSpPr>
          <p:cNvPr name="TextBox 10" id="10"/>
          <p:cNvSpPr txBox="true"/>
          <p:nvPr/>
        </p:nvSpPr>
        <p:spPr>
          <a:xfrm rot="0">
            <a:off x="7563971" y="8993119"/>
            <a:ext cx="3160058" cy="265181"/>
          </a:xfrm>
          <a:prstGeom prst="rect">
            <a:avLst/>
          </a:prstGeom>
        </p:spPr>
        <p:txBody>
          <a:bodyPr anchor="t" rtlCol="false" tIns="0" lIns="0" bIns="0" rIns="0">
            <a:spAutoFit/>
          </a:bodyPr>
          <a:lstStyle/>
          <a:p>
            <a:pPr algn="ctr">
              <a:lnSpc>
                <a:spcPts val="1917"/>
              </a:lnSpc>
              <a:spcBef>
                <a:spcPct val="0"/>
              </a:spcBef>
            </a:pPr>
            <a:r>
              <a:rPr lang="en-US" sz="1775">
                <a:solidFill>
                  <a:srgbClr val="FFFFFF"/>
                </a:solidFill>
                <a:latin typeface="Poppins Light"/>
                <a:ea typeface="Poppins Light"/>
                <a:cs typeface="Poppins Light"/>
                <a:sym typeface="Poppins Light"/>
              </a:rPr>
              <a:t>Colombo - Bianchi</a:t>
            </a:r>
          </a:p>
        </p:txBody>
      </p:sp>
      <p:sp>
        <p:nvSpPr>
          <p:cNvPr name="TextBox 11" id="11"/>
          <p:cNvSpPr txBox="true"/>
          <p:nvPr/>
        </p:nvSpPr>
        <p:spPr>
          <a:xfrm rot="0">
            <a:off x="2351178" y="4028578"/>
            <a:ext cx="13585644" cy="2080462"/>
          </a:xfrm>
          <a:prstGeom prst="rect">
            <a:avLst/>
          </a:prstGeom>
        </p:spPr>
        <p:txBody>
          <a:bodyPr anchor="t" rtlCol="false" tIns="0" lIns="0" bIns="0" rIns="0">
            <a:spAutoFit/>
          </a:bodyPr>
          <a:lstStyle/>
          <a:p>
            <a:pPr algn="ctr">
              <a:lnSpc>
                <a:spcPts val="8137"/>
              </a:lnSpc>
              <a:spcBef>
                <a:spcPct val="0"/>
              </a:spcBef>
            </a:pPr>
            <a:r>
              <a:rPr lang="en-US" sz="7534" spc="949">
                <a:solidFill>
                  <a:srgbClr val="FFFFFF"/>
                </a:solidFill>
                <a:latin typeface="HK Modular"/>
                <a:ea typeface="HK Modular"/>
                <a:cs typeface="HK Modular"/>
                <a:sym typeface="HK Modular"/>
              </a:rPr>
              <a:t>Il mondo della cybersecurity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4238286" y="1246129"/>
            <a:ext cx="20465418" cy="8012171"/>
            <a:chOff x="0" y="0"/>
            <a:chExt cx="5390069" cy="2110201"/>
          </a:xfrm>
        </p:grpSpPr>
        <p:sp>
          <p:nvSpPr>
            <p:cNvPr name="Freeform 4" id="4"/>
            <p:cNvSpPr/>
            <p:nvPr/>
          </p:nvSpPr>
          <p:spPr>
            <a:xfrm flipH="false" flipV="false" rot="0">
              <a:off x="0" y="0"/>
              <a:ext cx="5390069" cy="2110201"/>
            </a:xfrm>
            <a:custGeom>
              <a:avLst/>
              <a:gdLst/>
              <a:ahLst/>
              <a:cxnLst/>
              <a:rect r="r" b="b" t="t" l="l"/>
              <a:pathLst>
                <a:path h="2110201" w="5390069">
                  <a:moveTo>
                    <a:pt x="0" y="0"/>
                  </a:moveTo>
                  <a:lnTo>
                    <a:pt x="5390069" y="0"/>
                  </a:lnTo>
                  <a:lnTo>
                    <a:pt x="5390069" y="2110201"/>
                  </a:lnTo>
                  <a:lnTo>
                    <a:pt x="0" y="2110201"/>
                  </a:lnTo>
                  <a:close/>
                </a:path>
              </a:pathLst>
            </a:custGeom>
            <a:gradFill rotWithShape="true">
              <a:gsLst>
                <a:gs pos="0">
                  <a:srgbClr val="071121">
                    <a:alpha val="100000"/>
                  </a:srgbClr>
                </a:gs>
                <a:gs pos="50000">
                  <a:srgbClr val="4F5661">
                    <a:alpha val="78500"/>
                  </a:srgbClr>
                </a:gs>
                <a:gs pos="100000">
                  <a:srgbClr val="060F1F">
                    <a:alpha val="0"/>
                  </a:srgbClr>
                </a:gs>
              </a:gsLst>
              <a:lin ang="0"/>
            </a:gradFill>
          </p:spPr>
        </p:sp>
        <p:sp>
          <p:nvSpPr>
            <p:cNvPr name="TextBox 5" id="5"/>
            <p:cNvSpPr txBox="true"/>
            <p:nvPr/>
          </p:nvSpPr>
          <p:spPr>
            <a:xfrm>
              <a:off x="0" y="9525"/>
              <a:ext cx="5390069" cy="2100676"/>
            </a:xfrm>
            <a:prstGeom prst="rect">
              <a:avLst/>
            </a:prstGeom>
          </p:spPr>
          <p:txBody>
            <a:bodyPr anchor="ctr" rtlCol="false" tIns="50800" lIns="50800" bIns="50800" rIns="50800"/>
            <a:lstStyle/>
            <a:p>
              <a:pPr algn="ctr">
                <a:lnSpc>
                  <a:spcPts val="1377"/>
                </a:lnSpc>
              </a:pPr>
            </a:p>
          </p:txBody>
        </p:sp>
      </p:grpSp>
      <p:grpSp>
        <p:nvGrpSpPr>
          <p:cNvPr name="Group 6" id="6"/>
          <p:cNvGrpSpPr>
            <a:grpSpLocks noChangeAspect="true"/>
          </p:cNvGrpSpPr>
          <p:nvPr/>
        </p:nvGrpSpPr>
        <p:grpSpPr>
          <a:xfrm rot="0">
            <a:off x="1277493" y="2254215"/>
            <a:ext cx="5778569" cy="5778569"/>
            <a:chOff x="0" y="0"/>
            <a:chExt cx="14840029" cy="14840029"/>
          </a:xfrm>
        </p:grpSpPr>
        <p:sp>
          <p:nvSpPr>
            <p:cNvPr name="Freeform 7" id="7"/>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true">
              <a:gsLst>
                <a:gs pos="0">
                  <a:srgbClr val="4274C3">
                    <a:alpha val="100000"/>
                  </a:srgbClr>
                </a:gs>
                <a:gs pos="50000">
                  <a:srgbClr val="4F5661">
                    <a:alpha val="78500"/>
                  </a:srgbClr>
                </a:gs>
                <a:gs pos="100000">
                  <a:srgbClr val="060F1F">
                    <a:alpha val="0"/>
                  </a:srgbClr>
                </a:gs>
              </a:gsLst>
              <a:lin ang="0"/>
            </a:gradFill>
          </p:spPr>
        </p:sp>
        <p:sp>
          <p:nvSpPr>
            <p:cNvPr name="Freeform 8" id="8"/>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9" id="9"/>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3"/>
              <a:stretch>
                <a:fillRect l="-33697" t="0" r="-33697" b="0"/>
              </a:stretch>
            </a:blipFill>
          </p:spPr>
        </p:sp>
      </p:grpSp>
      <p:sp>
        <p:nvSpPr>
          <p:cNvPr name="Freeform 10" id="10"/>
          <p:cNvSpPr/>
          <p:nvPr/>
        </p:nvSpPr>
        <p:spPr>
          <a:xfrm flipH="false" flipV="false" rot="0">
            <a:off x="-412207" y="3402318"/>
            <a:ext cx="3487675" cy="1223269"/>
          </a:xfrm>
          <a:custGeom>
            <a:avLst/>
            <a:gdLst/>
            <a:ahLst/>
            <a:cxnLst/>
            <a:rect r="r" b="b" t="t" l="l"/>
            <a:pathLst>
              <a:path h="1223269" w="3487675">
                <a:moveTo>
                  <a:pt x="0" y="0"/>
                </a:moveTo>
                <a:lnTo>
                  <a:pt x="3487676" y="0"/>
                </a:lnTo>
                <a:lnTo>
                  <a:pt x="3487676" y="1223269"/>
                </a:lnTo>
                <a:lnTo>
                  <a:pt x="0" y="1223269"/>
                </a:lnTo>
                <a:lnTo>
                  <a:pt x="0" y="0"/>
                </a:lnTo>
                <a:close/>
              </a:path>
            </a:pathLst>
          </a:custGeom>
          <a:blipFill>
            <a:blip r:embed="rId4">
              <a:alphaModFix amt="18999"/>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9139238" y="4274503"/>
            <a:ext cx="9525" cy="1566544"/>
          </a:xfrm>
          <a:prstGeom prst="rect">
            <a:avLst/>
          </a:prstGeom>
        </p:spPr>
        <p:txBody>
          <a:bodyPr anchor="t" rtlCol="false" tIns="0" lIns="0" bIns="0" rIns="0">
            <a:spAutoFit/>
          </a:bodyPr>
          <a:lstStyle/>
          <a:p>
            <a:pPr algn="ctr">
              <a:lnSpc>
                <a:spcPts val="12880"/>
              </a:lnSpc>
            </a:pPr>
          </a:p>
        </p:txBody>
      </p:sp>
      <p:sp>
        <p:nvSpPr>
          <p:cNvPr name="TextBox 12" id="12"/>
          <p:cNvSpPr txBox="true"/>
          <p:nvPr/>
        </p:nvSpPr>
        <p:spPr>
          <a:xfrm rot="0">
            <a:off x="13415440" y="101858"/>
            <a:ext cx="3625850" cy="1144271"/>
          </a:xfrm>
          <a:prstGeom prst="rect">
            <a:avLst/>
          </a:prstGeom>
        </p:spPr>
        <p:txBody>
          <a:bodyPr anchor="t" rtlCol="false" tIns="0" lIns="0" bIns="0" rIns="0">
            <a:spAutoFit/>
          </a:bodyPr>
          <a:lstStyle/>
          <a:p>
            <a:pPr algn="ctr">
              <a:lnSpc>
                <a:spcPts val="9379"/>
              </a:lnSpc>
            </a:pPr>
            <a:r>
              <a:rPr lang="en-US" sz="6699" b="true">
                <a:solidFill>
                  <a:srgbClr val="FFFFFF"/>
                </a:solidFill>
                <a:latin typeface="Canva Sans Bold"/>
                <a:ea typeface="Canva Sans Bold"/>
                <a:cs typeface="Canva Sans Bold"/>
                <a:sym typeface="Canva Sans Bold"/>
              </a:rPr>
              <a:t>AGENDA</a:t>
            </a:r>
          </a:p>
        </p:txBody>
      </p:sp>
      <p:sp>
        <p:nvSpPr>
          <p:cNvPr name="TextBox 13" id="13"/>
          <p:cNvSpPr txBox="true"/>
          <p:nvPr/>
        </p:nvSpPr>
        <p:spPr>
          <a:xfrm rot="0">
            <a:off x="6953907" y="2717615"/>
            <a:ext cx="10834801" cy="395097"/>
          </a:xfrm>
          <a:prstGeom prst="rect">
            <a:avLst/>
          </a:prstGeom>
        </p:spPr>
        <p:txBody>
          <a:bodyPr anchor="t" rtlCol="false" tIns="0" lIns="0" bIns="0" rIns="0">
            <a:spAutoFit/>
          </a:bodyPr>
          <a:lstStyle/>
          <a:p>
            <a:pPr algn="l" marL="604524" indent="-302262" lvl="1">
              <a:lnSpc>
                <a:spcPts val="3024"/>
              </a:lnSpc>
              <a:spcBef>
                <a:spcPct val="0"/>
              </a:spcBef>
              <a:buAutoNum type="arabicPeriod" startAt="1"/>
            </a:pPr>
            <a:r>
              <a:rPr lang="en-US" sz="2800" spc="352">
                <a:solidFill>
                  <a:srgbClr val="FFFFFF"/>
                </a:solidFill>
                <a:latin typeface="HK Modular"/>
                <a:ea typeface="HK Modular"/>
                <a:cs typeface="HK Modular"/>
                <a:sym typeface="HK Modular"/>
              </a:rPr>
              <a:t> Evoluzione Digitale</a:t>
            </a:r>
          </a:p>
        </p:txBody>
      </p:sp>
      <p:sp>
        <p:nvSpPr>
          <p:cNvPr name="TextBox 14" id="14"/>
          <p:cNvSpPr txBox="true"/>
          <p:nvPr/>
        </p:nvSpPr>
        <p:spPr>
          <a:xfrm rot="0">
            <a:off x="7056062" y="3784202"/>
            <a:ext cx="10364888" cy="395097"/>
          </a:xfrm>
          <a:prstGeom prst="rect">
            <a:avLst/>
          </a:prstGeom>
        </p:spPr>
        <p:txBody>
          <a:bodyPr anchor="t" rtlCol="false" tIns="0" lIns="0" bIns="0" rIns="0">
            <a:spAutoFit/>
          </a:bodyPr>
          <a:lstStyle/>
          <a:p>
            <a:pPr algn="l">
              <a:lnSpc>
                <a:spcPts val="3024"/>
              </a:lnSpc>
              <a:spcBef>
                <a:spcPct val="0"/>
              </a:spcBef>
            </a:pPr>
            <a:r>
              <a:rPr lang="en-US" sz="2800" spc="352">
                <a:solidFill>
                  <a:srgbClr val="FFFFFF"/>
                </a:solidFill>
                <a:latin typeface="HK Modular"/>
                <a:ea typeface="HK Modular"/>
                <a:cs typeface="HK Modular"/>
                <a:sym typeface="HK Modular"/>
              </a:rPr>
              <a:t>2. Vulnerabilities e WEakness</a:t>
            </a:r>
          </a:p>
        </p:txBody>
      </p:sp>
      <p:sp>
        <p:nvSpPr>
          <p:cNvPr name="TextBox 15" id="15"/>
          <p:cNvSpPr txBox="true"/>
          <p:nvPr/>
        </p:nvSpPr>
        <p:spPr>
          <a:xfrm rot="0">
            <a:off x="7056062" y="4776870"/>
            <a:ext cx="11030839" cy="395097"/>
          </a:xfrm>
          <a:prstGeom prst="rect">
            <a:avLst/>
          </a:prstGeom>
        </p:spPr>
        <p:txBody>
          <a:bodyPr anchor="t" rtlCol="false" tIns="0" lIns="0" bIns="0" rIns="0">
            <a:spAutoFit/>
          </a:bodyPr>
          <a:lstStyle/>
          <a:p>
            <a:pPr algn="l">
              <a:lnSpc>
                <a:spcPts val="3024"/>
              </a:lnSpc>
              <a:spcBef>
                <a:spcPct val="0"/>
              </a:spcBef>
            </a:pPr>
            <a:r>
              <a:rPr lang="en-US" sz="2800" spc="352">
                <a:solidFill>
                  <a:srgbClr val="FFFFFF"/>
                </a:solidFill>
                <a:latin typeface="HK Modular"/>
                <a:ea typeface="HK Modular"/>
                <a:cs typeface="HK Modular"/>
                <a:sym typeface="HK Modular"/>
              </a:rPr>
              <a:t>3. Cyber Threat Landscape</a:t>
            </a:r>
          </a:p>
        </p:txBody>
      </p:sp>
      <p:sp>
        <p:nvSpPr>
          <p:cNvPr name="TextBox 16" id="16"/>
          <p:cNvSpPr txBox="true"/>
          <p:nvPr/>
        </p:nvSpPr>
        <p:spPr>
          <a:xfrm rot="0">
            <a:off x="7056062" y="5812191"/>
            <a:ext cx="12358711" cy="395097"/>
          </a:xfrm>
          <a:prstGeom prst="rect">
            <a:avLst/>
          </a:prstGeom>
        </p:spPr>
        <p:txBody>
          <a:bodyPr anchor="t" rtlCol="false" tIns="0" lIns="0" bIns="0" rIns="0">
            <a:spAutoFit/>
          </a:bodyPr>
          <a:lstStyle/>
          <a:p>
            <a:pPr algn="l">
              <a:lnSpc>
                <a:spcPts val="3024"/>
              </a:lnSpc>
              <a:spcBef>
                <a:spcPct val="0"/>
              </a:spcBef>
            </a:pPr>
            <a:r>
              <a:rPr lang="en-US" sz="2800" spc="352">
                <a:solidFill>
                  <a:srgbClr val="FFFFFF"/>
                </a:solidFill>
                <a:latin typeface="HK Modular"/>
                <a:ea typeface="HK Modular"/>
                <a:cs typeface="HK Modular"/>
                <a:sym typeface="HK Modular"/>
              </a:rPr>
              <a:t>4. Password e Autenticazione</a:t>
            </a:r>
          </a:p>
        </p:txBody>
      </p:sp>
      <p:sp>
        <p:nvSpPr>
          <p:cNvPr name="TextBox 17" id="17"/>
          <p:cNvSpPr txBox="true"/>
          <p:nvPr/>
        </p:nvSpPr>
        <p:spPr>
          <a:xfrm rot="0">
            <a:off x="7056062" y="6802860"/>
            <a:ext cx="12718757" cy="395097"/>
          </a:xfrm>
          <a:prstGeom prst="rect">
            <a:avLst/>
          </a:prstGeom>
        </p:spPr>
        <p:txBody>
          <a:bodyPr anchor="t" rtlCol="false" tIns="0" lIns="0" bIns="0" rIns="0">
            <a:spAutoFit/>
          </a:bodyPr>
          <a:lstStyle/>
          <a:p>
            <a:pPr algn="l">
              <a:lnSpc>
                <a:spcPts val="3024"/>
              </a:lnSpc>
              <a:spcBef>
                <a:spcPct val="0"/>
              </a:spcBef>
            </a:pPr>
            <a:r>
              <a:rPr lang="en-US" sz="2800" spc="352">
                <a:solidFill>
                  <a:srgbClr val="FFFFFF"/>
                </a:solidFill>
                <a:latin typeface="HK Modular"/>
                <a:ea typeface="HK Modular"/>
                <a:cs typeface="HK Modular"/>
                <a:sym typeface="HK Modular"/>
              </a:rPr>
              <a:t>5. capitale umano</a:t>
            </a:r>
          </a:p>
        </p:txBody>
      </p:sp>
      <p:sp>
        <p:nvSpPr>
          <p:cNvPr name="TextBox 18" id="18"/>
          <p:cNvSpPr txBox="true"/>
          <p:nvPr/>
        </p:nvSpPr>
        <p:spPr>
          <a:xfrm rot="0">
            <a:off x="7056062" y="7798032"/>
            <a:ext cx="10203238" cy="395097"/>
          </a:xfrm>
          <a:prstGeom prst="rect">
            <a:avLst/>
          </a:prstGeom>
        </p:spPr>
        <p:txBody>
          <a:bodyPr anchor="t" rtlCol="false" tIns="0" lIns="0" bIns="0" rIns="0">
            <a:spAutoFit/>
          </a:bodyPr>
          <a:lstStyle/>
          <a:p>
            <a:pPr algn="l">
              <a:lnSpc>
                <a:spcPts val="3024"/>
              </a:lnSpc>
              <a:spcBef>
                <a:spcPct val="0"/>
              </a:spcBef>
            </a:pPr>
            <a:r>
              <a:rPr lang="en-US" sz="2800" spc="352">
                <a:solidFill>
                  <a:srgbClr val="FFFFFF"/>
                </a:solidFill>
                <a:latin typeface="HK Modular"/>
                <a:ea typeface="HK Modular"/>
                <a:cs typeface="HK Modular"/>
                <a:sym typeface="HK Modular"/>
              </a:rPr>
              <a:t>6. Conclusione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144835" y="-547517"/>
            <a:ext cx="9030960" cy="11146926"/>
            <a:chOff x="0" y="0"/>
            <a:chExt cx="2378524" cy="2935816"/>
          </a:xfrm>
        </p:grpSpPr>
        <p:sp>
          <p:nvSpPr>
            <p:cNvPr name="Freeform 4" id="4"/>
            <p:cNvSpPr/>
            <p:nvPr/>
          </p:nvSpPr>
          <p:spPr>
            <a:xfrm flipH="false" flipV="false" rot="0">
              <a:off x="0" y="0"/>
              <a:ext cx="2378524" cy="2935816"/>
            </a:xfrm>
            <a:custGeom>
              <a:avLst/>
              <a:gdLst/>
              <a:ahLst/>
              <a:cxnLst/>
              <a:rect r="r" b="b" t="t" l="l"/>
              <a:pathLst>
                <a:path h="2935816" w="2378524">
                  <a:moveTo>
                    <a:pt x="0" y="0"/>
                  </a:moveTo>
                  <a:lnTo>
                    <a:pt x="2378524" y="0"/>
                  </a:lnTo>
                  <a:lnTo>
                    <a:pt x="2378524" y="2935816"/>
                  </a:lnTo>
                  <a:lnTo>
                    <a:pt x="0" y="2935816"/>
                  </a:lnTo>
                  <a:close/>
                </a:path>
              </a:pathLst>
            </a:custGeom>
            <a:gradFill rotWithShape="true">
              <a:gsLst>
                <a:gs pos="0">
                  <a:srgbClr val="071121">
                    <a:alpha val="100000"/>
                  </a:srgbClr>
                </a:gs>
                <a:gs pos="50000">
                  <a:srgbClr val="060F1F">
                    <a:alpha val="78500"/>
                  </a:srgbClr>
                </a:gs>
                <a:gs pos="100000">
                  <a:srgbClr val="060F1F">
                    <a:alpha val="0"/>
                  </a:srgbClr>
                </a:gs>
              </a:gsLst>
              <a:lin ang="0"/>
            </a:gradFill>
          </p:spPr>
        </p:sp>
        <p:sp>
          <p:nvSpPr>
            <p:cNvPr name="TextBox 5" id="5"/>
            <p:cNvSpPr txBox="true"/>
            <p:nvPr/>
          </p:nvSpPr>
          <p:spPr>
            <a:xfrm>
              <a:off x="0" y="0"/>
              <a:ext cx="2378524" cy="2935816"/>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2092719" y="3995095"/>
            <a:ext cx="14371257" cy="2061703"/>
            <a:chOff x="0" y="0"/>
            <a:chExt cx="3785022" cy="543000"/>
          </a:xfrm>
        </p:grpSpPr>
        <p:sp>
          <p:nvSpPr>
            <p:cNvPr name="Freeform 7" id="7"/>
            <p:cNvSpPr/>
            <p:nvPr/>
          </p:nvSpPr>
          <p:spPr>
            <a:xfrm flipH="false" flipV="false" rot="0">
              <a:off x="0" y="0"/>
              <a:ext cx="3785022" cy="543000"/>
            </a:xfrm>
            <a:custGeom>
              <a:avLst/>
              <a:gdLst/>
              <a:ahLst/>
              <a:cxnLst/>
              <a:rect r="r" b="b" t="t" l="l"/>
              <a:pathLst>
                <a:path h="543000" w="3785022">
                  <a:moveTo>
                    <a:pt x="0" y="0"/>
                  </a:moveTo>
                  <a:lnTo>
                    <a:pt x="3785022" y="0"/>
                  </a:lnTo>
                  <a:lnTo>
                    <a:pt x="3785022" y="543000"/>
                  </a:lnTo>
                  <a:lnTo>
                    <a:pt x="0" y="543000"/>
                  </a:lnTo>
                  <a:close/>
                </a:path>
              </a:pathLst>
            </a:custGeom>
            <a:solidFill>
              <a:srgbClr val="000000">
                <a:alpha val="0"/>
              </a:srgbClr>
            </a:solidFill>
            <a:ln w="19050" cap="sq">
              <a:gradFill>
                <a:gsLst>
                  <a:gs pos="0">
                    <a:srgbClr val="FFFFFF">
                      <a:alpha val="100000"/>
                    </a:srgbClr>
                  </a:gs>
                  <a:gs pos="100000">
                    <a:srgbClr val="FFC1C1">
                      <a:alpha val="2500"/>
                    </a:srgbClr>
                  </a:gs>
                </a:gsLst>
                <a:lin ang="0"/>
              </a:gradFill>
              <a:prstDash val="solid"/>
              <a:miter/>
            </a:ln>
          </p:spPr>
        </p:sp>
        <p:sp>
          <p:nvSpPr>
            <p:cNvPr name="TextBox 8" id="8"/>
            <p:cNvSpPr txBox="true"/>
            <p:nvPr/>
          </p:nvSpPr>
          <p:spPr>
            <a:xfrm>
              <a:off x="0" y="0"/>
              <a:ext cx="3785022" cy="543000"/>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2351178" y="4028578"/>
            <a:ext cx="13585644" cy="2080462"/>
          </a:xfrm>
          <a:prstGeom prst="rect">
            <a:avLst/>
          </a:prstGeom>
        </p:spPr>
        <p:txBody>
          <a:bodyPr anchor="t" rtlCol="false" tIns="0" lIns="0" bIns="0" rIns="0">
            <a:spAutoFit/>
          </a:bodyPr>
          <a:lstStyle/>
          <a:p>
            <a:pPr algn="ctr">
              <a:lnSpc>
                <a:spcPts val="8137"/>
              </a:lnSpc>
              <a:spcBef>
                <a:spcPct val="0"/>
              </a:spcBef>
            </a:pPr>
            <a:r>
              <a:rPr lang="en-US" sz="7534" spc="949">
                <a:solidFill>
                  <a:srgbClr val="FFFFFF"/>
                </a:solidFill>
                <a:latin typeface="HK Modular"/>
                <a:ea typeface="HK Modular"/>
                <a:cs typeface="HK Modular"/>
                <a:sym typeface="HK Modular"/>
              </a:rPr>
              <a:t> </a:t>
            </a:r>
            <a:r>
              <a:rPr lang="en-US" sz="7534" spc="949">
                <a:solidFill>
                  <a:srgbClr val="FFFFFF"/>
                </a:solidFill>
                <a:latin typeface="HK Modular"/>
                <a:ea typeface="HK Modular"/>
                <a:cs typeface="HK Modular"/>
                <a:sym typeface="HK Modular"/>
              </a:rPr>
              <a:t>Ev</a:t>
            </a:r>
            <a:r>
              <a:rPr lang="en-US" sz="7534" spc="949">
                <a:solidFill>
                  <a:srgbClr val="FFFFFF"/>
                </a:solidFill>
                <a:latin typeface="HK Modular"/>
                <a:ea typeface="HK Modular"/>
                <a:cs typeface="HK Modular"/>
                <a:sym typeface="HK Modular"/>
              </a:rPr>
              <a:t>oluzione Digitale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1028700" y="5058375"/>
            <a:ext cx="392527" cy="392527"/>
            <a:chOff x="0" y="0"/>
            <a:chExt cx="103382" cy="103382"/>
          </a:xfrm>
        </p:grpSpPr>
        <p:sp>
          <p:nvSpPr>
            <p:cNvPr name="Freeform 4" id="4"/>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5" id="5"/>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9847628" y="5058375"/>
            <a:ext cx="392527" cy="392527"/>
            <a:chOff x="0" y="0"/>
            <a:chExt cx="103382" cy="103382"/>
          </a:xfrm>
        </p:grpSpPr>
        <p:sp>
          <p:nvSpPr>
            <p:cNvPr name="Freeform 7" id="7"/>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8" id="8"/>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grpSp>
        <p:nvGrpSpPr>
          <p:cNvPr name="Group 9" id="9"/>
          <p:cNvGrpSpPr/>
          <p:nvPr/>
        </p:nvGrpSpPr>
        <p:grpSpPr>
          <a:xfrm rot="0">
            <a:off x="-620782" y="4259504"/>
            <a:ext cx="20465418" cy="3943110"/>
            <a:chOff x="0" y="0"/>
            <a:chExt cx="5390069" cy="1038515"/>
          </a:xfrm>
        </p:grpSpPr>
        <p:sp>
          <p:nvSpPr>
            <p:cNvPr name="Freeform 10" id="10"/>
            <p:cNvSpPr/>
            <p:nvPr/>
          </p:nvSpPr>
          <p:spPr>
            <a:xfrm flipH="false" flipV="false" rot="0">
              <a:off x="0" y="0"/>
              <a:ext cx="5390069" cy="1038515"/>
            </a:xfrm>
            <a:custGeom>
              <a:avLst/>
              <a:gdLst/>
              <a:ahLst/>
              <a:cxnLst/>
              <a:rect r="r" b="b" t="t" l="l"/>
              <a:pathLst>
                <a:path h="1038515" w="5390069">
                  <a:moveTo>
                    <a:pt x="0" y="0"/>
                  </a:moveTo>
                  <a:lnTo>
                    <a:pt x="5390069" y="0"/>
                  </a:lnTo>
                  <a:lnTo>
                    <a:pt x="5390069" y="1038515"/>
                  </a:lnTo>
                  <a:lnTo>
                    <a:pt x="0" y="1038515"/>
                  </a:lnTo>
                  <a:close/>
                </a:path>
              </a:pathLst>
            </a:custGeom>
            <a:gradFill rotWithShape="true">
              <a:gsLst>
                <a:gs pos="0">
                  <a:srgbClr val="071121">
                    <a:alpha val="31000"/>
                  </a:srgbClr>
                </a:gs>
                <a:gs pos="50000">
                  <a:srgbClr val="4F5661">
                    <a:alpha val="24335"/>
                  </a:srgbClr>
                </a:gs>
                <a:gs pos="100000">
                  <a:srgbClr val="060F1F">
                    <a:alpha val="0"/>
                  </a:srgbClr>
                </a:gs>
              </a:gsLst>
              <a:lin ang="0"/>
            </a:gradFill>
          </p:spPr>
        </p:sp>
        <p:sp>
          <p:nvSpPr>
            <p:cNvPr name="TextBox 11" id="11"/>
            <p:cNvSpPr txBox="true"/>
            <p:nvPr/>
          </p:nvSpPr>
          <p:spPr>
            <a:xfrm>
              <a:off x="0" y="0"/>
              <a:ext cx="5390069" cy="1038515"/>
            </a:xfrm>
            <a:prstGeom prst="rect">
              <a:avLst/>
            </a:prstGeom>
          </p:spPr>
          <p:txBody>
            <a:bodyPr anchor="ctr" rtlCol="false" tIns="50800" lIns="50800" bIns="50800" rIns="50800"/>
            <a:lstStyle/>
            <a:p>
              <a:pPr algn="ctr">
                <a:lnSpc>
                  <a:spcPts val="1917"/>
                </a:lnSpc>
              </a:pPr>
            </a:p>
          </p:txBody>
        </p:sp>
      </p:grpSp>
      <p:sp>
        <p:nvSpPr>
          <p:cNvPr name="TextBox 12" id="12"/>
          <p:cNvSpPr txBox="true"/>
          <p:nvPr/>
        </p:nvSpPr>
        <p:spPr>
          <a:xfrm rot="0">
            <a:off x="1028700" y="1794973"/>
            <a:ext cx="15898306" cy="879863"/>
          </a:xfrm>
          <a:prstGeom prst="rect">
            <a:avLst/>
          </a:prstGeom>
        </p:spPr>
        <p:txBody>
          <a:bodyPr anchor="t" rtlCol="false" tIns="0" lIns="0" bIns="0" rIns="0">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Evoluzione Digitale</a:t>
            </a:r>
          </a:p>
        </p:txBody>
      </p:sp>
      <p:sp>
        <p:nvSpPr>
          <p:cNvPr name="TextBox 13" id="13"/>
          <p:cNvSpPr txBox="true"/>
          <p:nvPr/>
        </p:nvSpPr>
        <p:spPr>
          <a:xfrm rot="0">
            <a:off x="1358900" y="8793480"/>
            <a:ext cx="15570201" cy="448310"/>
          </a:xfrm>
          <a:prstGeom prst="rect">
            <a:avLst/>
          </a:prstGeom>
        </p:spPr>
        <p:txBody>
          <a:bodyPr anchor="t" rtlCol="false" tIns="0" lIns="0" bIns="0" rIns="0">
            <a:spAutoFit/>
          </a:bodyPr>
          <a:lstStyle/>
          <a:p>
            <a:pPr algn="ctr">
              <a:lnSpc>
                <a:spcPts val="3640"/>
              </a:lnSpc>
            </a:pPr>
            <a:r>
              <a:rPr lang="en-US" sz="2600" i="true">
                <a:solidFill>
                  <a:srgbClr val="FFFFFF"/>
                </a:solidFill>
                <a:latin typeface="Canva Sans Italics"/>
                <a:ea typeface="Canva Sans Italics"/>
                <a:cs typeface="Canva Sans Italics"/>
                <a:sym typeface="Canva Sans Italics"/>
              </a:rPr>
              <a:t>Comprendere la crescita tecnologica e i rischi associati è il primo passo verso una difesa efficace</a:t>
            </a:r>
          </a:p>
        </p:txBody>
      </p:sp>
      <p:sp>
        <p:nvSpPr>
          <p:cNvPr name="TextBox 14" id="14"/>
          <p:cNvSpPr txBox="true"/>
          <p:nvPr/>
        </p:nvSpPr>
        <p:spPr>
          <a:xfrm rot="0">
            <a:off x="971406" y="2867406"/>
            <a:ext cx="15898306" cy="341376"/>
          </a:xfrm>
          <a:prstGeom prst="rect">
            <a:avLst/>
          </a:prstGeom>
        </p:spPr>
        <p:txBody>
          <a:bodyPr anchor="t" rtlCol="false" tIns="0" lIns="0" bIns="0" rIns="0">
            <a:spAutoFit/>
          </a:bodyPr>
          <a:lstStyle/>
          <a:p>
            <a:pPr algn="ctr">
              <a:lnSpc>
                <a:spcPts val="2592"/>
              </a:lnSpc>
              <a:spcBef>
                <a:spcPct val="0"/>
              </a:spcBef>
            </a:pPr>
            <a:r>
              <a:rPr lang="en-US" sz="2400" spc="302">
                <a:solidFill>
                  <a:srgbClr val="FFFFFF"/>
                </a:solidFill>
                <a:latin typeface="HK Modular"/>
                <a:ea typeface="HK Modular"/>
                <a:cs typeface="HK Modular"/>
                <a:sym typeface="HK Modular"/>
              </a:rPr>
              <a:t>Opportunità e minacce</a:t>
            </a:r>
          </a:p>
        </p:txBody>
      </p:sp>
      <p:sp>
        <p:nvSpPr>
          <p:cNvPr name="TextBox 15" id="15"/>
          <p:cNvSpPr txBox="true"/>
          <p:nvPr/>
        </p:nvSpPr>
        <p:spPr>
          <a:xfrm rot="0">
            <a:off x="1560425" y="5108054"/>
            <a:ext cx="7264588"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Crescita tecnologica</a:t>
            </a:r>
          </a:p>
        </p:txBody>
      </p:sp>
      <p:sp>
        <p:nvSpPr>
          <p:cNvPr name="TextBox 16" id="16"/>
          <p:cNvSpPr txBox="true"/>
          <p:nvPr/>
        </p:nvSpPr>
        <p:spPr>
          <a:xfrm rot="0">
            <a:off x="1655971" y="5634606"/>
            <a:ext cx="6261160" cy="1560043"/>
          </a:xfrm>
          <a:prstGeom prst="rect">
            <a:avLst/>
          </a:prstGeom>
        </p:spPr>
        <p:txBody>
          <a:bodyPr anchor="t" rtlCol="false" tIns="0" lIns="0" bIns="0" rIns="0">
            <a:spAutoFit/>
          </a:bodyPr>
          <a:lstStyle/>
          <a:p>
            <a:pPr algn="l">
              <a:lnSpc>
                <a:spcPts val="2548"/>
              </a:lnSpc>
            </a:pPr>
            <a:r>
              <a:rPr lang="en-US" sz="1860">
                <a:solidFill>
                  <a:srgbClr val="FFFFFF"/>
                </a:solidFill>
                <a:latin typeface="Etna Sans Serif"/>
                <a:ea typeface="Etna Sans Serif"/>
                <a:cs typeface="Etna Sans Serif"/>
                <a:sym typeface="Etna Sans Serif"/>
              </a:rPr>
              <a:t>Negli ultimi decenni abbiamo assistito a una trasformazione radicale: l’espansione digitale ha ridisegnato ogni ambito della vita quotidiana, dalle comunicazioni ai servizi pubblici, fino all’industria e alla finanza. </a:t>
            </a:r>
          </a:p>
        </p:txBody>
      </p:sp>
      <p:sp>
        <p:nvSpPr>
          <p:cNvPr name="TextBox 17" id="17"/>
          <p:cNvSpPr txBox="true"/>
          <p:nvPr/>
        </p:nvSpPr>
        <p:spPr>
          <a:xfrm rot="0">
            <a:off x="10480608" y="5086950"/>
            <a:ext cx="7437303"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Awareness e importanza della cybersecurity</a:t>
            </a:r>
          </a:p>
        </p:txBody>
      </p:sp>
      <p:sp>
        <p:nvSpPr>
          <p:cNvPr name="TextBox 18" id="18"/>
          <p:cNvSpPr txBox="true"/>
          <p:nvPr/>
        </p:nvSpPr>
        <p:spPr>
          <a:xfrm rot="0">
            <a:off x="10656970" y="5634606"/>
            <a:ext cx="6436183" cy="1874368"/>
          </a:xfrm>
          <a:prstGeom prst="rect">
            <a:avLst/>
          </a:prstGeom>
        </p:spPr>
        <p:txBody>
          <a:bodyPr anchor="t" rtlCol="false" tIns="0" lIns="0" bIns="0" rIns="0">
            <a:spAutoFit/>
          </a:bodyPr>
          <a:lstStyle/>
          <a:p>
            <a:pPr algn="l">
              <a:lnSpc>
                <a:spcPts val="2548"/>
              </a:lnSpc>
            </a:pPr>
            <a:r>
              <a:rPr lang="en-US" sz="1860">
                <a:solidFill>
                  <a:srgbClr val="FFFFFF"/>
                </a:solidFill>
                <a:latin typeface="Etna Sans Serif"/>
                <a:ea typeface="Etna Sans Serif"/>
                <a:cs typeface="Etna Sans Serif"/>
                <a:sym typeface="Etna Sans Serif"/>
              </a:rPr>
              <a:t>La crescente interconnessione globale ha reso il mondo più veloce, efficiente e accessibile, ma ha anche aumentato in modo esponenziale la superficie d’attacco digitale. Oggi ci confrontiamo con miliardi di dispositivi connessi e un ecosistema in continua evoluzione, in cui ogni nuova tecnologia introduce potenziali vulnerabilità.</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173889" y="5143500"/>
            <a:ext cx="17940222" cy="4417780"/>
          </a:xfrm>
          <a:custGeom>
            <a:avLst/>
            <a:gdLst/>
            <a:ahLst/>
            <a:cxnLst/>
            <a:rect r="r" b="b" t="t" l="l"/>
            <a:pathLst>
              <a:path h="4417780" w="17940222">
                <a:moveTo>
                  <a:pt x="0" y="0"/>
                </a:moveTo>
                <a:lnTo>
                  <a:pt x="17940222" y="0"/>
                </a:lnTo>
                <a:lnTo>
                  <a:pt x="17940222" y="4417780"/>
                </a:lnTo>
                <a:lnTo>
                  <a:pt x="0" y="4417780"/>
                </a:lnTo>
                <a:lnTo>
                  <a:pt x="0" y="0"/>
                </a:lnTo>
                <a:close/>
              </a:path>
            </a:pathLst>
          </a:custGeom>
          <a:blipFill>
            <a:blip r:embed="rId3"/>
            <a:stretch>
              <a:fillRect l="0" t="0" r="0" b="0"/>
            </a:stretch>
          </a:blipFill>
        </p:spPr>
      </p:sp>
      <p:sp>
        <p:nvSpPr>
          <p:cNvPr name="TextBox 4" id="4"/>
          <p:cNvSpPr txBox="true"/>
          <p:nvPr/>
        </p:nvSpPr>
        <p:spPr>
          <a:xfrm rot="0">
            <a:off x="1752268" y="906598"/>
            <a:ext cx="15958032" cy="88586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Crescita digitale</a:t>
            </a:r>
          </a:p>
        </p:txBody>
      </p:sp>
      <p:sp>
        <p:nvSpPr>
          <p:cNvPr name="TextBox 5" id="5"/>
          <p:cNvSpPr txBox="true"/>
          <p:nvPr/>
        </p:nvSpPr>
        <p:spPr>
          <a:xfrm rot="0">
            <a:off x="347778" y="2604373"/>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L’utilizzo di internet, dopo una fase iniziale di crescita quasi nulla durata fino alla metà degli anni ‘90 (in linea con l’uso ancora limitato della rete in ambiti accademici, governativi o militari) risulta in progressiva crescita a partire dagli anni 2000.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173889" y="5043689"/>
            <a:ext cx="17940222" cy="4440205"/>
          </a:xfrm>
          <a:custGeom>
            <a:avLst/>
            <a:gdLst/>
            <a:ahLst/>
            <a:cxnLst/>
            <a:rect r="r" b="b" t="t" l="l"/>
            <a:pathLst>
              <a:path h="4440205" w="17940222">
                <a:moveTo>
                  <a:pt x="0" y="0"/>
                </a:moveTo>
                <a:lnTo>
                  <a:pt x="17940222" y="0"/>
                </a:lnTo>
                <a:lnTo>
                  <a:pt x="17940222" y="4440205"/>
                </a:lnTo>
                <a:lnTo>
                  <a:pt x="0" y="4440205"/>
                </a:lnTo>
                <a:lnTo>
                  <a:pt x="0" y="0"/>
                </a:lnTo>
                <a:close/>
              </a:path>
            </a:pathLst>
          </a:custGeom>
          <a:blipFill>
            <a:blip r:embed="rId3"/>
            <a:stretch>
              <a:fillRect l="0" t="0" r="0" b="0"/>
            </a:stretch>
          </a:blipFill>
        </p:spPr>
      </p:sp>
      <p:sp>
        <p:nvSpPr>
          <p:cNvPr name="TextBox 4" id="4"/>
          <p:cNvSpPr txBox="true"/>
          <p:nvPr/>
        </p:nvSpPr>
        <p:spPr>
          <a:xfrm rot="0">
            <a:off x="347778" y="2628643"/>
            <a:ext cx="17592445" cy="241504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La crescita del numero di persone che utilizzano dispositivi connessi alla rete per svolgere qualsiasi tipo di mansione è esponenziale: in soli diciassette anni, la percentuale di utenti connessi nel mondo è passata da meno del 10% a oltre il 50%</a:t>
            </a:r>
          </a:p>
          <a:p>
            <a:pPr algn="l">
              <a:lnSpc>
                <a:spcPts val="3899"/>
              </a:lnSpc>
            </a:pPr>
          </a:p>
          <a:p>
            <a:pPr algn="l">
              <a:lnSpc>
                <a:spcPts val="3899"/>
              </a:lnSpc>
            </a:pPr>
          </a:p>
        </p:txBody>
      </p:sp>
      <p:sp>
        <p:nvSpPr>
          <p:cNvPr name="TextBox 5" id="5"/>
          <p:cNvSpPr txBox="true"/>
          <p:nvPr/>
        </p:nvSpPr>
        <p:spPr>
          <a:xfrm rot="0">
            <a:off x="1752268" y="906598"/>
            <a:ext cx="15958032" cy="88586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Espansione digitale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173889" y="5234853"/>
            <a:ext cx="17940222" cy="4417780"/>
          </a:xfrm>
          <a:custGeom>
            <a:avLst/>
            <a:gdLst/>
            <a:ahLst/>
            <a:cxnLst/>
            <a:rect r="r" b="b" t="t" l="l"/>
            <a:pathLst>
              <a:path h="4417780" w="17940222">
                <a:moveTo>
                  <a:pt x="0" y="0"/>
                </a:moveTo>
                <a:lnTo>
                  <a:pt x="17940222" y="0"/>
                </a:lnTo>
                <a:lnTo>
                  <a:pt x="17940222" y="4417779"/>
                </a:lnTo>
                <a:lnTo>
                  <a:pt x="0" y="4417779"/>
                </a:lnTo>
                <a:lnTo>
                  <a:pt x="0" y="0"/>
                </a:lnTo>
                <a:close/>
              </a:path>
            </a:pathLst>
          </a:custGeom>
          <a:blipFill>
            <a:blip r:embed="rId3"/>
            <a:stretch>
              <a:fillRect l="0" t="0" r="0" b="0"/>
            </a:stretch>
          </a:blipFill>
        </p:spPr>
      </p:sp>
      <p:sp>
        <p:nvSpPr>
          <p:cNvPr name="TextBox 4" id="4"/>
          <p:cNvSpPr txBox="true"/>
          <p:nvPr/>
        </p:nvSpPr>
        <p:spPr>
          <a:xfrm rot="0">
            <a:off x="347778" y="2790629"/>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I paesi fortemente industrializzati fanno sempre più affidamento sulla tecnologia per supportare le attività quotidiane. Stati come la cina, nel 2020 contavano lo stesso numero di utenti connessi ad internet rispetto al totale globale di 15 anni prima.</a:t>
            </a:r>
          </a:p>
        </p:txBody>
      </p:sp>
      <p:sp>
        <p:nvSpPr>
          <p:cNvPr name="TextBox 5" id="5"/>
          <p:cNvSpPr txBox="true"/>
          <p:nvPr/>
        </p:nvSpPr>
        <p:spPr>
          <a:xfrm rot="0">
            <a:off x="1752268" y="563698"/>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PAesi maggiormente digitalizzati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144835" y="-547517"/>
            <a:ext cx="9030960" cy="11146926"/>
            <a:chOff x="0" y="0"/>
            <a:chExt cx="2378524" cy="2935816"/>
          </a:xfrm>
        </p:grpSpPr>
        <p:sp>
          <p:nvSpPr>
            <p:cNvPr name="Freeform 4" id="4"/>
            <p:cNvSpPr/>
            <p:nvPr/>
          </p:nvSpPr>
          <p:spPr>
            <a:xfrm flipH="false" flipV="false" rot="0">
              <a:off x="0" y="0"/>
              <a:ext cx="2378524" cy="2935816"/>
            </a:xfrm>
            <a:custGeom>
              <a:avLst/>
              <a:gdLst/>
              <a:ahLst/>
              <a:cxnLst/>
              <a:rect r="r" b="b" t="t" l="l"/>
              <a:pathLst>
                <a:path h="2935816" w="2378524">
                  <a:moveTo>
                    <a:pt x="0" y="0"/>
                  </a:moveTo>
                  <a:lnTo>
                    <a:pt x="2378524" y="0"/>
                  </a:lnTo>
                  <a:lnTo>
                    <a:pt x="2378524" y="2935816"/>
                  </a:lnTo>
                  <a:lnTo>
                    <a:pt x="0" y="2935816"/>
                  </a:lnTo>
                  <a:close/>
                </a:path>
              </a:pathLst>
            </a:custGeom>
            <a:gradFill rotWithShape="true">
              <a:gsLst>
                <a:gs pos="0">
                  <a:srgbClr val="071121">
                    <a:alpha val="100000"/>
                  </a:srgbClr>
                </a:gs>
                <a:gs pos="50000">
                  <a:srgbClr val="060F1F">
                    <a:alpha val="78500"/>
                  </a:srgbClr>
                </a:gs>
                <a:gs pos="100000">
                  <a:srgbClr val="060F1F">
                    <a:alpha val="0"/>
                  </a:srgbClr>
                </a:gs>
              </a:gsLst>
              <a:lin ang="0"/>
            </a:gradFill>
          </p:spPr>
        </p:sp>
        <p:sp>
          <p:nvSpPr>
            <p:cNvPr name="TextBox 5" id="5"/>
            <p:cNvSpPr txBox="true"/>
            <p:nvPr/>
          </p:nvSpPr>
          <p:spPr>
            <a:xfrm>
              <a:off x="0" y="0"/>
              <a:ext cx="2378524" cy="2935816"/>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2092719" y="3995095"/>
            <a:ext cx="14371257" cy="2061703"/>
            <a:chOff x="0" y="0"/>
            <a:chExt cx="3785022" cy="543000"/>
          </a:xfrm>
        </p:grpSpPr>
        <p:sp>
          <p:nvSpPr>
            <p:cNvPr name="Freeform 7" id="7"/>
            <p:cNvSpPr/>
            <p:nvPr/>
          </p:nvSpPr>
          <p:spPr>
            <a:xfrm flipH="false" flipV="false" rot="0">
              <a:off x="0" y="0"/>
              <a:ext cx="3785022" cy="543000"/>
            </a:xfrm>
            <a:custGeom>
              <a:avLst/>
              <a:gdLst/>
              <a:ahLst/>
              <a:cxnLst/>
              <a:rect r="r" b="b" t="t" l="l"/>
              <a:pathLst>
                <a:path h="543000" w="3785022">
                  <a:moveTo>
                    <a:pt x="0" y="0"/>
                  </a:moveTo>
                  <a:lnTo>
                    <a:pt x="3785022" y="0"/>
                  </a:lnTo>
                  <a:lnTo>
                    <a:pt x="3785022" y="543000"/>
                  </a:lnTo>
                  <a:lnTo>
                    <a:pt x="0" y="543000"/>
                  </a:lnTo>
                  <a:close/>
                </a:path>
              </a:pathLst>
            </a:custGeom>
            <a:solidFill>
              <a:srgbClr val="000000">
                <a:alpha val="0"/>
              </a:srgbClr>
            </a:solidFill>
            <a:ln w="19050" cap="sq">
              <a:gradFill>
                <a:gsLst>
                  <a:gs pos="0">
                    <a:srgbClr val="FFFFFF">
                      <a:alpha val="100000"/>
                    </a:srgbClr>
                  </a:gs>
                  <a:gs pos="100000">
                    <a:srgbClr val="FFC1C1">
                      <a:alpha val="2500"/>
                    </a:srgbClr>
                  </a:gs>
                </a:gsLst>
                <a:lin ang="0"/>
              </a:gradFill>
              <a:prstDash val="solid"/>
              <a:miter/>
            </a:ln>
          </p:spPr>
        </p:sp>
        <p:sp>
          <p:nvSpPr>
            <p:cNvPr name="TextBox 8" id="8"/>
            <p:cNvSpPr txBox="true"/>
            <p:nvPr/>
          </p:nvSpPr>
          <p:spPr>
            <a:xfrm>
              <a:off x="0" y="0"/>
              <a:ext cx="3785022" cy="543000"/>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2092719" y="4028578"/>
            <a:ext cx="14371257" cy="2080462"/>
          </a:xfrm>
          <a:prstGeom prst="rect">
            <a:avLst/>
          </a:prstGeom>
        </p:spPr>
        <p:txBody>
          <a:bodyPr anchor="t" rtlCol="false" tIns="0" lIns="0" bIns="0" rIns="0">
            <a:spAutoFit/>
          </a:bodyPr>
          <a:lstStyle/>
          <a:p>
            <a:pPr algn="ctr">
              <a:lnSpc>
                <a:spcPts val="8137"/>
              </a:lnSpc>
              <a:spcBef>
                <a:spcPct val="0"/>
              </a:spcBef>
            </a:pPr>
            <a:r>
              <a:rPr lang="en-US" sz="7534" spc="949">
                <a:solidFill>
                  <a:srgbClr val="FFFFFF"/>
                </a:solidFill>
                <a:latin typeface="HK Modular"/>
                <a:ea typeface="HK Modular"/>
                <a:cs typeface="HK Modular"/>
                <a:sym typeface="HK Modular"/>
              </a:rPr>
              <a:t>Vulnerabilities e WEakness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494657" y="4243739"/>
            <a:ext cx="20465418" cy="3943110"/>
            <a:chOff x="0" y="0"/>
            <a:chExt cx="5390069" cy="1038515"/>
          </a:xfrm>
        </p:grpSpPr>
        <p:sp>
          <p:nvSpPr>
            <p:cNvPr name="Freeform 4" id="4"/>
            <p:cNvSpPr/>
            <p:nvPr/>
          </p:nvSpPr>
          <p:spPr>
            <a:xfrm flipH="false" flipV="false" rot="0">
              <a:off x="0" y="0"/>
              <a:ext cx="5390069" cy="1038515"/>
            </a:xfrm>
            <a:custGeom>
              <a:avLst/>
              <a:gdLst/>
              <a:ahLst/>
              <a:cxnLst/>
              <a:rect r="r" b="b" t="t" l="l"/>
              <a:pathLst>
                <a:path h="1038515" w="5390069">
                  <a:moveTo>
                    <a:pt x="0" y="0"/>
                  </a:moveTo>
                  <a:lnTo>
                    <a:pt x="5390069" y="0"/>
                  </a:lnTo>
                  <a:lnTo>
                    <a:pt x="5390069" y="1038515"/>
                  </a:lnTo>
                  <a:lnTo>
                    <a:pt x="0" y="1038515"/>
                  </a:lnTo>
                  <a:close/>
                </a:path>
              </a:pathLst>
            </a:custGeom>
            <a:gradFill rotWithShape="true">
              <a:gsLst>
                <a:gs pos="0">
                  <a:srgbClr val="071121">
                    <a:alpha val="31000"/>
                  </a:srgbClr>
                </a:gs>
                <a:gs pos="50000">
                  <a:srgbClr val="4F5661">
                    <a:alpha val="24335"/>
                  </a:srgbClr>
                </a:gs>
                <a:gs pos="100000">
                  <a:srgbClr val="060F1F">
                    <a:alpha val="0"/>
                  </a:srgbClr>
                </a:gs>
              </a:gsLst>
              <a:lin ang="0"/>
            </a:gradFill>
          </p:spPr>
        </p:sp>
        <p:sp>
          <p:nvSpPr>
            <p:cNvPr name="TextBox 5" id="5"/>
            <p:cNvSpPr txBox="true"/>
            <p:nvPr/>
          </p:nvSpPr>
          <p:spPr>
            <a:xfrm>
              <a:off x="0" y="19050"/>
              <a:ext cx="5390069" cy="1019465"/>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1028700" y="5058375"/>
            <a:ext cx="392527" cy="392527"/>
            <a:chOff x="0" y="0"/>
            <a:chExt cx="103382" cy="103382"/>
          </a:xfrm>
        </p:grpSpPr>
        <p:sp>
          <p:nvSpPr>
            <p:cNvPr name="Freeform 7" id="7"/>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8" id="8"/>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1028700" y="1794973"/>
            <a:ext cx="15898306" cy="879863"/>
          </a:xfrm>
          <a:prstGeom prst="rect">
            <a:avLst/>
          </a:prstGeom>
        </p:spPr>
        <p:txBody>
          <a:bodyPr anchor="t" rtlCol="false" tIns="0" lIns="0" bIns="0" rIns="0">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MOTIVAZIONE</a:t>
            </a:r>
          </a:p>
        </p:txBody>
      </p:sp>
      <p:grpSp>
        <p:nvGrpSpPr>
          <p:cNvPr name="Group 10" id="10"/>
          <p:cNvGrpSpPr/>
          <p:nvPr/>
        </p:nvGrpSpPr>
        <p:grpSpPr>
          <a:xfrm rot="0">
            <a:off x="9847628" y="5058375"/>
            <a:ext cx="392527" cy="392527"/>
            <a:chOff x="0" y="0"/>
            <a:chExt cx="103382" cy="103382"/>
          </a:xfrm>
        </p:grpSpPr>
        <p:sp>
          <p:nvSpPr>
            <p:cNvPr name="Freeform 11" id="11"/>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12" id="12"/>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13" id="13"/>
          <p:cNvSpPr txBox="true"/>
          <p:nvPr/>
        </p:nvSpPr>
        <p:spPr>
          <a:xfrm rot="0">
            <a:off x="163411" y="8812699"/>
            <a:ext cx="18057914" cy="445601"/>
          </a:xfrm>
          <a:prstGeom prst="rect">
            <a:avLst/>
          </a:prstGeom>
        </p:spPr>
        <p:txBody>
          <a:bodyPr anchor="t" rtlCol="false" tIns="0" lIns="0" bIns="0" rIns="0">
            <a:spAutoFit/>
          </a:bodyPr>
          <a:lstStyle/>
          <a:p>
            <a:pPr algn="ctr">
              <a:lnSpc>
                <a:spcPts val="3614"/>
              </a:lnSpc>
            </a:pPr>
            <a:r>
              <a:rPr lang="en-US" sz="2582" i="true">
                <a:solidFill>
                  <a:srgbClr val="FFFFFF"/>
                </a:solidFill>
                <a:latin typeface="Canva Sans Italics"/>
                <a:ea typeface="Canva Sans Italics"/>
                <a:cs typeface="Canva Sans Italics"/>
                <a:sym typeface="Canva Sans Italics"/>
              </a:rPr>
              <a:t>La protezione del software non può essere relegata alle fasi finali, deve essere un processo continuo e strutturato</a:t>
            </a:r>
          </a:p>
        </p:txBody>
      </p:sp>
      <p:sp>
        <p:nvSpPr>
          <p:cNvPr name="TextBox 14" id="14"/>
          <p:cNvSpPr txBox="true"/>
          <p:nvPr/>
        </p:nvSpPr>
        <p:spPr>
          <a:xfrm rot="0">
            <a:off x="971406" y="2867406"/>
            <a:ext cx="15898306" cy="341376"/>
          </a:xfrm>
          <a:prstGeom prst="rect">
            <a:avLst/>
          </a:prstGeom>
        </p:spPr>
        <p:txBody>
          <a:bodyPr anchor="t" rtlCol="false" tIns="0" lIns="0" bIns="0" rIns="0">
            <a:spAutoFit/>
          </a:bodyPr>
          <a:lstStyle/>
          <a:p>
            <a:pPr algn="ctr">
              <a:lnSpc>
                <a:spcPts val="2592"/>
              </a:lnSpc>
              <a:spcBef>
                <a:spcPct val="0"/>
              </a:spcBef>
            </a:pPr>
            <a:r>
              <a:rPr lang="en-US" sz="2400" spc="302">
                <a:solidFill>
                  <a:srgbClr val="FFFFFF"/>
                </a:solidFill>
                <a:latin typeface="HK Modular"/>
                <a:ea typeface="HK Modular"/>
                <a:cs typeface="HK Modular"/>
                <a:sym typeface="HK Modular"/>
              </a:rPr>
              <a:t>Il software è intrinsecamente vulnerabile</a:t>
            </a:r>
          </a:p>
        </p:txBody>
      </p:sp>
      <p:sp>
        <p:nvSpPr>
          <p:cNvPr name="TextBox 15" id="15"/>
          <p:cNvSpPr txBox="true"/>
          <p:nvPr/>
        </p:nvSpPr>
        <p:spPr>
          <a:xfrm rot="0">
            <a:off x="1560425" y="5108054"/>
            <a:ext cx="7264588"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Il software non è perfetto</a:t>
            </a:r>
            <a:r>
              <a:rPr lang="en-US" sz="2496">
                <a:solidFill>
                  <a:srgbClr val="FFFFFF"/>
                </a:solidFill>
                <a:latin typeface="Etna Sans Serif"/>
                <a:ea typeface="Etna Sans Serif"/>
                <a:cs typeface="Etna Sans Serif"/>
                <a:sym typeface="Etna Sans Serif"/>
              </a:rPr>
              <a:t> </a:t>
            </a:r>
          </a:p>
        </p:txBody>
      </p:sp>
      <p:sp>
        <p:nvSpPr>
          <p:cNvPr name="TextBox 16" id="16"/>
          <p:cNvSpPr txBox="true"/>
          <p:nvPr/>
        </p:nvSpPr>
        <p:spPr>
          <a:xfrm rot="0">
            <a:off x="1560425" y="5634606"/>
            <a:ext cx="6261160" cy="1874368"/>
          </a:xfrm>
          <a:prstGeom prst="rect">
            <a:avLst/>
          </a:prstGeom>
        </p:spPr>
        <p:txBody>
          <a:bodyPr anchor="t" rtlCol="false" tIns="0" lIns="0" bIns="0" rIns="0">
            <a:spAutoFit/>
          </a:bodyPr>
          <a:lstStyle/>
          <a:p>
            <a:pPr algn="l">
              <a:lnSpc>
                <a:spcPts val="2548"/>
              </a:lnSpc>
            </a:pPr>
            <a:r>
              <a:rPr lang="en-US" sz="1860">
                <a:solidFill>
                  <a:srgbClr val="FFFFFF"/>
                </a:solidFill>
                <a:latin typeface="Etna Sans Serif"/>
                <a:ea typeface="Etna Sans Serif"/>
                <a:cs typeface="Etna Sans Serif"/>
                <a:sym typeface="Etna Sans Serif"/>
              </a:rPr>
              <a:t>Il software moderno, complesso e in continua evoluzione, è inevitabilmente soggetto a vulnerabilità. Anche le aziende più avanzate rilasciano codice con falle critiche, le quali causano incidenti e permettono ad attori malevoli di prendere il controllo di sistemi o effettuare operazioni illegittime.</a:t>
            </a:r>
          </a:p>
        </p:txBody>
      </p:sp>
      <p:sp>
        <p:nvSpPr>
          <p:cNvPr name="TextBox 17" id="17"/>
          <p:cNvSpPr txBox="true"/>
          <p:nvPr/>
        </p:nvSpPr>
        <p:spPr>
          <a:xfrm rot="0">
            <a:off x="10490823" y="5086950"/>
            <a:ext cx="6436183"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Mitigazioni</a:t>
            </a:r>
          </a:p>
        </p:txBody>
      </p:sp>
      <p:sp>
        <p:nvSpPr>
          <p:cNvPr name="TextBox 18" id="18"/>
          <p:cNvSpPr txBox="true"/>
          <p:nvPr/>
        </p:nvSpPr>
        <p:spPr>
          <a:xfrm rot="0">
            <a:off x="10462248" y="5634606"/>
            <a:ext cx="6436183" cy="1245718"/>
          </a:xfrm>
          <a:prstGeom prst="rect">
            <a:avLst/>
          </a:prstGeom>
        </p:spPr>
        <p:txBody>
          <a:bodyPr anchor="t" rtlCol="false" tIns="0" lIns="0" bIns="0" rIns="0">
            <a:spAutoFit/>
          </a:bodyPr>
          <a:lstStyle/>
          <a:p>
            <a:pPr algn="l">
              <a:lnSpc>
                <a:spcPts val="2548"/>
              </a:lnSpc>
            </a:pPr>
            <a:r>
              <a:rPr lang="en-US" sz="1860">
                <a:solidFill>
                  <a:srgbClr val="FFFFFF"/>
                </a:solidFill>
                <a:latin typeface="Etna Sans Serif"/>
                <a:ea typeface="Etna Sans Serif"/>
                <a:cs typeface="Etna Sans Serif"/>
                <a:sym typeface="Etna Sans Serif"/>
              </a:rPr>
              <a:t>Una strategia efficace di mitigazione richiede sicurezza integrata nello sviluppo (Secure by Design), aggiornamenti costanti, test continui, strumenti DevSecOps, monitoraggio avanzato e formazione degli sviluppatori.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1028700" y="5058375"/>
            <a:ext cx="392527" cy="392527"/>
            <a:chOff x="0" y="0"/>
            <a:chExt cx="103382" cy="103382"/>
          </a:xfrm>
        </p:grpSpPr>
        <p:sp>
          <p:nvSpPr>
            <p:cNvPr name="Freeform 4" id="4"/>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5" id="5"/>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6" id="6"/>
          <p:cNvSpPr txBox="true"/>
          <p:nvPr/>
        </p:nvSpPr>
        <p:spPr>
          <a:xfrm rot="0">
            <a:off x="1028700" y="1794973"/>
            <a:ext cx="15898306" cy="879863"/>
          </a:xfrm>
          <a:prstGeom prst="rect">
            <a:avLst/>
          </a:prstGeom>
        </p:spPr>
        <p:txBody>
          <a:bodyPr anchor="t" rtlCol="false" tIns="0" lIns="0" bIns="0" rIns="0">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CVE</a:t>
            </a:r>
          </a:p>
        </p:txBody>
      </p:sp>
      <p:grpSp>
        <p:nvGrpSpPr>
          <p:cNvPr name="Group 7" id="7"/>
          <p:cNvGrpSpPr/>
          <p:nvPr/>
        </p:nvGrpSpPr>
        <p:grpSpPr>
          <a:xfrm rot="0">
            <a:off x="9847628" y="5058375"/>
            <a:ext cx="392527" cy="392527"/>
            <a:chOff x="0" y="0"/>
            <a:chExt cx="103382" cy="103382"/>
          </a:xfrm>
        </p:grpSpPr>
        <p:sp>
          <p:nvSpPr>
            <p:cNvPr name="Freeform 8" id="8"/>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9" id="9"/>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10" id="10"/>
          <p:cNvSpPr txBox="true"/>
          <p:nvPr/>
        </p:nvSpPr>
        <p:spPr>
          <a:xfrm rot="0">
            <a:off x="225425" y="8809990"/>
            <a:ext cx="17837151" cy="448310"/>
          </a:xfrm>
          <a:prstGeom prst="rect">
            <a:avLst/>
          </a:prstGeom>
        </p:spPr>
        <p:txBody>
          <a:bodyPr anchor="t" rtlCol="false" tIns="0" lIns="0" bIns="0" rIns="0">
            <a:spAutoFit/>
          </a:bodyPr>
          <a:lstStyle/>
          <a:p>
            <a:pPr algn="ctr">
              <a:lnSpc>
                <a:spcPts val="3640"/>
              </a:lnSpc>
            </a:pPr>
            <a:r>
              <a:rPr lang="en-US" sz="2600" i="true">
                <a:solidFill>
                  <a:srgbClr val="FFFFFF"/>
                </a:solidFill>
                <a:latin typeface="Canva Sans Italics"/>
                <a:ea typeface="Canva Sans Italics"/>
                <a:cs typeface="Canva Sans Italics"/>
                <a:sym typeface="Canva Sans Italics"/>
              </a:rPr>
              <a:t>A</a:t>
            </a:r>
            <a:r>
              <a:rPr lang="en-US" sz="2600" i="true">
                <a:solidFill>
                  <a:srgbClr val="FFFFFF"/>
                </a:solidFill>
                <a:latin typeface="Canva Sans Italics"/>
                <a:ea typeface="Canva Sans Italics"/>
                <a:cs typeface="Canva Sans Italics"/>
                <a:sym typeface="Canva Sans Italics"/>
              </a:rPr>
              <a:t>nalizzare quali vulnerabilità sono note e come vengono sfruttate è essenziale per prevenire i prossimi attacchi</a:t>
            </a:r>
          </a:p>
        </p:txBody>
      </p:sp>
      <p:sp>
        <p:nvSpPr>
          <p:cNvPr name="TextBox 11" id="11"/>
          <p:cNvSpPr txBox="true"/>
          <p:nvPr/>
        </p:nvSpPr>
        <p:spPr>
          <a:xfrm rot="0">
            <a:off x="971406" y="2867406"/>
            <a:ext cx="15898306" cy="341376"/>
          </a:xfrm>
          <a:prstGeom prst="rect">
            <a:avLst/>
          </a:prstGeom>
        </p:spPr>
        <p:txBody>
          <a:bodyPr anchor="t" rtlCol="false" tIns="0" lIns="0" bIns="0" rIns="0">
            <a:spAutoFit/>
          </a:bodyPr>
          <a:lstStyle/>
          <a:p>
            <a:pPr algn="ctr">
              <a:lnSpc>
                <a:spcPts val="2592"/>
              </a:lnSpc>
              <a:spcBef>
                <a:spcPct val="0"/>
              </a:spcBef>
            </a:pPr>
            <a:r>
              <a:rPr lang="en-US" sz="2400" spc="302">
                <a:solidFill>
                  <a:srgbClr val="FFFFFF"/>
                </a:solidFill>
                <a:latin typeface="HK Modular"/>
                <a:ea typeface="HK Modular"/>
                <a:cs typeface="HK Modular"/>
                <a:sym typeface="HK Modular"/>
              </a:rPr>
              <a:t>Common vulnerability exposures</a:t>
            </a:r>
          </a:p>
        </p:txBody>
      </p:sp>
      <p:grpSp>
        <p:nvGrpSpPr>
          <p:cNvPr name="Group 12" id="12"/>
          <p:cNvGrpSpPr/>
          <p:nvPr/>
        </p:nvGrpSpPr>
        <p:grpSpPr>
          <a:xfrm rot="0">
            <a:off x="-494657" y="4243739"/>
            <a:ext cx="20465418" cy="3943110"/>
            <a:chOff x="0" y="0"/>
            <a:chExt cx="5390069" cy="1038515"/>
          </a:xfrm>
        </p:grpSpPr>
        <p:sp>
          <p:nvSpPr>
            <p:cNvPr name="Freeform 13" id="13"/>
            <p:cNvSpPr/>
            <p:nvPr/>
          </p:nvSpPr>
          <p:spPr>
            <a:xfrm flipH="false" flipV="false" rot="0">
              <a:off x="0" y="0"/>
              <a:ext cx="5390069" cy="1038515"/>
            </a:xfrm>
            <a:custGeom>
              <a:avLst/>
              <a:gdLst/>
              <a:ahLst/>
              <a:cxnLst/>
              <a:rect r="r" b="b" t="t" l="l"/>
              <a:pathLst>
                <a:path h="1038515" w="5390069">
                  <a:moveTo>
                    <a:pt x="0" y="0"/>
                  </a:moveTo>
                  <a:lnTo>
                    <a:pt x="5390069" y="0"/>
                  </a:lnTo>
                  <a:lnTo>
                    <a:pt x="5390069" y="1038515"/>
                  </a:lnTo>
                  <a:lnTo>
                    <a:pt x="0" y="1038515"/>
                  </a:lnTo>
                  <a:close/>
                </a:path>
              </a:pathLst>
            </a:custGeom>
            <a:gradFill rotWithShape="true">
              <a:gsLst>
                <a:gs pos="0">
                  <a:srgbClr val="071121">
                    <a:alpha val="31000"/>
                  </a:srgbClr>
                </a:gs>
                <a:gs pos="50000">
                  <a:srgbClr val="4F5661">
                    <a:alpha val="24335"/>
                  </a:srgbClr>
                </a:gs>
                <a:gs pos="100000">
                  <a:srgbClr val="060F1F">
                    <a:alpha val="0"/>
                  </a:srgbClr>
                </a:gs>
              </a:gsLst>
              <a:lin ang="0"/>
            </a:gradFill>
          </p:spPr>
        </p:sp>
        <p:sp>
          <p:nvSpPr>
            <p:cNvPr name="TextBox 14" id="14"/>
            <p:cNvSpPr txBox="true"/>
            <p:nvPr/>
          </p:nvSpPr>
          <p:spPr>
            <a:xfrm>
              <a:off x="0" y="0"/>
              <a:ext cx="5390069" cy="1038515"/>
            </a:xfrm>
            <a:prstGeom prst="rect">
              <a:avLst/>
            </a:prstGeom>
          </p:spPr>
          <p:txBody>
            <a:bodyPr anchor="ctr" rtlCol="false" tIns="50800" lIns="50800" bIns="50800" rIns="50800"/>
            <a:lstStyle/>
            <a:p>
              <a:pPr algn="ctr">
                <a:lnSpc>
                  <a:spcPts val="1917"/>
                </a:lnSpc>
              </a:pPr>
            </a:p>
          </p:txBody>
        </p:sp>
      </p:grpSp>
      <p:sp>
        <p:nvSpPr>
          <p:cNvPr name="TextBox 15" id="15"/>
          <p:cNvSpPr txBox="true"/>
          <p:nvPr/>
        </p:nvSpPr>
        <p:spPr>
          <a:xfrm rot="0">
            <a:off x="1560425" y="5089004"/>
            <a:ext cx="7264588" cy="361897"/>
          </a:xfrm>
          <a:prstGeom prst="rect">
            <a:avLst/>
          </a:prstGeom>
        </p:spPr>
        <p:txBody>
          <a:bodyPr anchor="t" rtlCol="false" tIns="0" lIns="0" bIns="0" rIns="0">
            <a:spAutoFit/>
          </a:bodyPr>
          <a:lstStyle/>
          <a:p>
            <a:pPr algn="l">
              <a:lnSpc>
                <a:spcPts val="2696"/>
              </a:lnSpc>
              <a:spcBef>
                <a:spcPct val="0"/>
              </a:spcBef>
            </a:pPr>
            <a:r>
              <a:rPr lang="en-US" b="true" sz="2496">
                <a:solidFill>
                  <a:srgbClr val="FFFFFF"/>
                </a:solidFill>
                <a:latin typeface="Poppins Bold"/>
                <a:ea typeface="Poppins Bold"/>
                <a:cs typeface="Poppins Bold"/>
                <a:sym typeface="Poppins Bold"/>
              </a:rPr>
              <a:t>CVE</a:t>
            </a:r>
          </a:p>
        </p:txBody>
      </p:sp>
      <p:sp>
        <p:nvSpPr>
          <p:cNvPr name="TextBox 16" id="16"/>
          <p:cNvSpPr txBox="true"/>
          <p:nvPr/>
        </p:nvSpPr>
        <p:spPr>
          <a:xfrm rot="0">
            <a:off x="1560425" y="5615556"/>
            <a:ext cx="6261160" cy="1893418"/>
          </a:xfrm>
          <a:prstGeom prst="rect">
            <a:avLst/>
          </a:prstGeom>
        </p:spPr>
        <p:txBody>
          <a:bodyPr anchor="t" rtlCol="false" tIns="0" lIns="0" bIns="0" rIns="0">
            <a:spAutoFit/>
          </a:bodyPr>
          <a:lstStyle/>
          <a:p>
            <a:pPr algn="l">
              <a:lnSpc>
                <a:spcPts val="2548"/>
              </a:lnSpc>
            </a:pPr>
            <a:r>
              <a:rPr lang="en-US" sz="1860">
                <a:solidFill>
                  <a:srgbClr val="FFFFFF"/>
                </a:solidFill>
                <a:latin typeface="Poppins"/>
                <a:ea typeface="Poppins"/>
                <a:cs typeface="Poppins"/>
                <a:sym typeface="Poppins"/>
              </a:rPr>
              <a:t>Le CVE sono codici univoci che identificano vulnerabilità note, supportando i team di sicurezza nel riconoscimento, nella valutazione del rischio e nell’attuazione di contromisure. Ogni CVE è relativa ad una vulnerabilità specifica, rilevata su una determinata tecnologia.</a:t>
            </a:r>
          </a:p>
        </p:txBody>
      </p:sp>
      <p:sp>
        <p:nvSpPr>
          <p:cNvPr name="TextBox 17" id="17"/>
          <p:cNvSpPr txBox="true"/>
          <p:nvPr/>
        </p:nvSpPr>
        <p:spPr>
          <a:xfrm rot="0">
            <a:off x="10490823" y="5089004"/>
            <a:ext cx="6436183" cy="361897"/>
          </a:xfrm>
          <a:prstGeom prst="rect">
            <a:avLst/>
          </a:prstGeom>
        </p:spPr>
        <p:txBody>
          <a:bodyPr anchor="t" rtlCol="false" tIns="0" lIns="0" bIns="0" rIns="0">
            <a:spAutoFit/>
          </a:bodyPr>
          <a:lstStyle/>
          <a:p>
            <a:pPr algn="l">
              <a:lnSpc>
                <a:spcPts val="2696"/>
              </a:lnSpc>
              <a:spcBef>
                <a:spcPct val="0"/>
              </a:spcBef>
            </a:pPr>
            <a:r>
              <a:rPr lang="en-US" b="true" sz="2496">
                <a:solidFill>
                  <a:srgbClr val="FFFFFF"/>
                </a:solidFill>
                <a:latin typeface="Poppins Semi-Bold"/>
                <a:ea typeface="Poppins Semi-Bold"/>
                <a:cs typeface="Poppins Semi-Bold"/>
                <a:sym typeface="Poppins Semi-Bold"/>
              </a:rPr>
              <a:t>Utilità e Impatto</a:t>
            </a:r>
          </a:p>
        </p:txBody>
      </p:sp>
      <p:sp>
        <p:nvSpPr>
          <p:cNvPr name="TextBox 18" id="18"/>
          <p:cNvSpPr txBox="true"/>
          <p:nvPr/>
        </p:nvSpPr>
        <p:spPr>
          <a:xfrm rot="0">
            <a:off x="10490823" y="5615556"/>
            <a:ext cx="6436183" cy="1579093"/>
          </a:xfrm>
          <a:prstGeom prst="rect">
            <a:avLst/>
          </a:prstGeom>
        </p:spPr>
        <p:txBody>
          <a:bodyPr anchor="t" rtlCol="false" tIns="0" lIns="0" bIns="0" rIns="0">
            <a:spAutoFit/>
          </a:bodyPr>
          <a:lstStyle/>
          <a:p>
            <a:pPr algn="l">
              <a:lnSpc>
                <a:spcPts val="2548"/>
              </a:lnSpc>
            </a:pPr>
            <a:r>
              <a:rPr lang="en-US" sz="1860">
                <a:solidFill>
                  <a:srgbClr val="FFFFFF"/>
                </a:solidFill>
                <a:latin typeface="Poppins Light"/>
                <a:ea typeface="Poppins Light"/>
                <a:cs typeface="Poppins Light"/>
                <a:sym typeface="Poppins Light"/>
              </a:rPr>
              <a:t>Le CVE sono alla base di ogni difesa proattiva: monitorarle e valutarle tramite il punteggio CVSS (utilizzato per individuarne la fascia di pericolosità) consente di gestire i rischi e proteggere le infrastrutture in modo mirato.</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416050" y="4837933"/>
            <a:ext cx="17455900" cy="5105851"/>
          </a:xfrm>
          <a:custGeom>
            <a:avLst/>
            <a:gdLst/>
            <a:ahLst/>
            <a:cxnLst/>
            <a:rect r="r" b="b" t="t" l="l"/>
            <a:pathLst>
              <a:path h="5105851" w="17455900">
                <a:moveTo>
                  <a:pt x="0" y="0"/>
                </a:moveTo>
                <a:lnTo>
                  <a:pt x="17455900" y="0"/>
                </a:lnTo>
                <a:lnTo>
                  <a:pt x="17455900" y="5105851"/>
                </a:lnTo>
                <a:lnTo>
                  <a:pt x="0" y="5105851"/>
                </a:lnTo>
                <a:lnTo>
                  <a:pt x="0" y="0"/>
                </a:lnTo>
                <a:close/>
              </a:path>
            </a:pathLst>
          </a:custGeom>
          <a:blipFill>
            <a:blip r:embed="rId3"/>
            <a:stretch>
              <a:fillRect l="0" t="0" r="0" b="0"/>
            </a:stretch>
          </a:blipFill>
        </p:spPr>
      </p:sp>
      <p:sp>
        <p:nvSpPr>
          <p:cNvPr name="TextBox 4" id="4"/>
          <p:cNvSpPr txBox="true"/>
          <p:nvPr/>
        </p:nvSpPr>
        <p:spPr>
          <a:xfrm rot="0">
            <a:off x="347778" y="3056233"/>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Il numero di vulnerabilità emerse è cresciuto esponenzialmente negli ultimi anni. Sebbene il volume totale sia aumentato, la percentuale di vulnerabilità critiche rispetto al totale è in calo. La maggior parte dei CVE rientra nella fascia “Medium”, mentre i casi “Critical” restano contenuti ma rilevanti. </a:t>
            </a:r>
          </a:p>
        </p:txBody>
      </p:sp>
      <p:sp>
        <p:nvSpPr>
          <p:cNvPr name="TextBox 5" id="5"/>
          <p:cNvSpPr txBox="true"/>
          <p:nvPr/>
        </p:nvSpPr>
        <p:spPr>
          <a:xfrm rot="0">
            <a:off x="1752268" y="560638"/>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Evoluzione e distribuzione CVE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50B18"/>
        </a:solidFill>
      </p:bgPr>
    </p:bg>
    <p:spTree>
      <p:nvGrpSpPr>
        <p:cNvPr id="1" name=""/>
        <p:cNvGrpSpPr/>
        <p:nvPr/>
      </p:nvGrpSpPr>
      <p:grpSpPr>
        <a:xfrm>
          <a:off x="0" y="0"/>
          <a:ext cx="0" cy="0"/>
          <a:chOff x="0" y="0"/>
          <a:chExt cx="0" cy="0"/>
        </a:xfrm>
      </p:grpSpPr>
      <p:sp>
        <p:nvSpPr>
          <p:cNvPr name="Freeform 2" id="2"/>
          <p:cNvSpPr/>
          <p:nvPr/>
        </p:nvSpPr>
        <p:spPr>
          <a:xfrm flipH="false" flipV="false" rot="0">
            <a:off x="414674" y="4823352"/>
            <a:ext cx="17458652" cy="5106656"/>
          </a:xfrm>
          <a:custGeom>
            <a:avLst/>
            <a:gdLst/>
            <a:ahLst/>
            <a:cxnLst/>
            <a:rect r="r" b="b" t="t" l="l"/>
            <a:pathLst>
              <a:path h="5106656" w="17458652">
                <a:moveTo>
                  <a:pt x="0" y="0"/>
                </a:moveTo>
                <a:lnTo>
                  <a:pt x="17458652" y="0"/>
                </a:lnTo>
                <a:lnTo>
                  <a:pt x="17458652" y="5106656"/>
                </a:lnTo>
                <a:lnTo>
                  <a:pt x="0" y="5106656"/>
                </a:lnTo>
                <a:lnTo>
                  <a:pt x="0" y="0"/>
                </a:lnTo>
                <a:close/>
              </a:path>
            </a:pathLst>
          </a:custGeom>
          <a:blipFill>
            <a:blip r:embed="rId2"/>
            <a:stretch>
              <a:fillRect l="0" t="0" r="0" b="0"/>
            </a:stretch>
          </a:blipFill>
        </p:spPr>
      </p:sp>
      <p:sp>
        <p:nvSpPr>
          <p:cNvPr name="TextBox 3" id="3"/>
          <p:cNvSpPr txBox="true"/>
          <p:nvPr/>
        </p:nvSpPr>
        <p:spPr>
          <a:xfrm rot="0">
            <a:off x="347778" y="3056233"/>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La maggior parte delle vulnerabilità registrate rientra nella categoria Medium (Nel range 4–6.9 CVSS score), rappresentando circa il 60% del totale. Solo una minoranza è classificata come Critical (9–10), ma richiede interventi prioritari per l’alto potenziale di impatto. </a:t>
            </a:r>
          </a:p>
        </p:txBody>
      </p:sp>
      <p:sp>
        <p:nvSpPr>
          <p:cNvPr name="TextBox 4" id="4"/>
          <p:cNvSpPr txBox="true"/>
          <p:nvPr/>
        </p:nvSpPr>
        <p:spPr>
          <a:xfrm rot="0">
            <a:off x="1752268" y="516073"/>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Cluster di fasce di gravità</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494657" y="4243739"/>
            <a:ext cx="20465418" cy="3943110"/>
            <a:chOff x="0" y="0"/>
            <a:chExt cx="5390069" cy="1038515"/>
          </a:xfrm>
        </p:grpSpPr>
        <p:sp>
          <p:nvSpPr>
            <p:cNvPr name="Freeform 4" id="4"/>
            <p:cNvSpPr/>
            <p:nvPr/>
          </p:nvSpPr>
          <p:spPr>
            <a:xfrm flipH="false" flipV="false" rot="0">
              <a:off x="0" y="0"/>
              <a:ext cx="5390069" cy="1038515"/>
            </a:xfrm>
            <a:custGeom>
              <a:avLst/>
              <a:gdLst/>
              <a:ahLst/>
              <a:cxnLst/>
              <a:rect r="r" b="b" t="t" l="l"/>
              <a:pathLst>
                <a:path h="1038515" w="5390069">
                  <a:moveTo>
                    <a:pt x="0" y="0"/>
                  </a:moveTo>
                  <a:lnTo>
                    <a:pt x="5390069" y="0"/>
                  </a:lnTo>
                  <a:lnTo>
                    <a:pt x="5390069" y="1038515"/>
                  </a:lnTo>
                  <a:lnTo>
                    <a:pt x="0" y="1038515"/>
                  </a:lnTo>
                  <a:close/>
                </a:path>
              </a:pathLst>
            </a:custGeom>
            <a:gradFill rotWithShape="true">
              <a:gsLst>
                <a:gs pos="0">
                  <a:srgbClr val="071121">
                    <a:alpha val="31000"/>
                  </a:srgbClr>
                </a:gs>
                <a:gs pos="50000">
                  <a:srgbClr val="4F5661">
                    <a:alpha val="24335"/>
                  </a:srgbClr>
                </a:gs>
                <a:gs pos="100000">
                  <a:srgbClr val="060F1F">
                    <a:alpha val="0"/>
                  </a:srgbClr>
                </a:gs>
              </a:gsLst>
              <a:lin ang="0"/>
            </a:gradFill>
          </p:spPr>
        </p:sp>
        <p:sp>
          <p:nvSpPr>
            <p:cNvPr name="TextBox 5" id="5"/>
            <p:cNvSpPr txBox="true"/>
            <p:nvPr/>
          </p:nvSpPr>
          <p:spPr>
            <a:xfrm>
              <a:off x="0" y="0"/>
              <a:ext cx="5390069" cy="1038515"/>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1028700" y="5058375"/>
            <a:ext cx="392527" cy="392527"/>
            <a:chOff x="0" y="0"/>
            <a:chExt cx="103382" cy="103382"/>
          </a:xfrm>
        </p:grpSpPr>
        <p:sp>
          <p:nvSpPr>
            <p:cNvPr name="Freeform 7" id="7"/>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8" id="8"/>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1028700" y="1794973"/>
            <a:ext cx="15898306" cy="879863"/>
          </a:xfrm>
          <a:prstGeom prst="rect">
            <a:avLst/>
          </a:prstGeom>
        </p:spPr>
        <p:txBody>
          <a:bodyPr anchor="t" rtlCol="false" tIns="0" lIns="0" bIns="0" rIns="0">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CWE</a:t>
            </a:r>
          </a:p>
        </p:txBody>
      </p:sp>
      <p:sp>
        <p:nvSpPr>
          <p:cNvPr name="TextBox 10" id="10"/>
          <p:cNvSpPr txBox="true"/>
          <p:nvPr/>
        </p:nvSpPr>
        <p:spPr>
          <a:xfrm rot="0">
            <a:off x="1560425" y="5108054"/>
            <a:ext cx="7264588"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CWE</a:t>
            </a:r>
          </a:p>
        </p:txBody>
      </p:sp>
      <p:sp>
        <p:nvSpPr>
          <p:cNvPr name="TextBox 11" id="11"/>
          <p:cNvSpPr txBox="true"/>
          <p:nvPr/>
        </p:nvSpPr>
        <p:spPr>
          <a:xfrm rot="0">
            <a:off x="1560425" y="5634606"/>
            <a:ext cx="6261160" cy="1560043"/>
          </a:xfrm>
          <a:prstGeom prst="rect">
            <a:avLst/>
          </a:prstGeom>
        </p:spPr>
        <p:txBody>
          <a:bodyPr anchor="t" rtlCol="false" tIns="0" lIns="0" bIns="0" rIns="0">
            <a:spAutoFit/>
          </a:bodyPr>
          <a:lstStyle/>
          <a:p>
            <a:pPr algn="l">
              <a:lnSpc>
                <a:spcPts val="2548"/>
              </a:lnSpc>
            </a:pPr>
            <a:r>
              <a:rPr lang="en-US" sz="1860">
                <a:solidFill>
                  <a:srgbClr val="FFFFFF"/>
                </a:solidFill>
                <a:latin typeface="Etna Sans Serif"/>
                <a:ea typeface="Etna Sans Serif"/>
                <a:cs typeface="Etna Sans Serif"/>
                <a:sym typeface="Etna Sans Serif"/>
              </a:rPr>
              <a:t>Le CWE classificano le principali debolezze del software. Comprenderle consente di prevenire vulnerabilità comuni come buffer overflow, injection e configurazioni insicure. Ogni CVE può essere mappata in una CWE, la quale descrive la problematica generale.</a:t>
            </a:r>
          </a:p>
        </p:txBody>
      </p:sp>
      <p:grpSp>
        <p:nvGrpSpPr>
          <p:cNvPr name="Group 12" id="12"/>
          <p:cNvGrpSpPr/>
          <p:nvPr/>
        </p:nvGrpSpPr>
        <p:grpSpPr>
          <a:xfrm rot="0">
            <a:off x="9847628" y="5058375"/>
            <a:ext cx="392527" cy="392527"/>
            <a:chOff x="0" y="0"/>
            <a:chExt cx="103382" cy="103382"/>
          </a:xfrm>
        </p:grpSpPr>
        <p:sp>
          <p:nvSpPr>
            <p:cNvPr name="Freeform 13" id="13"/>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14" id="14"/>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15" id="15"/>
          <p:cNvSpPr txBox="true"/>
          <p:nvPr/>
        </p:nvSpPr>
        <p:spPr>
          <a:xfrm rot="0">
            <a:off x="10490823" y="5108054"/>
            <a:ext cx="6436183"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Utilità e Impatto</a:t>
            </a:r>
          </a:p>
        </p:txBody>
      </p:sp>
      <p:sp>
        <p:nvSpPr>
          <p:cNvPr name="TextBox 16" id="16"/>
          <p:cNvSpPr txBox="true"/>
          <p:nvPr/>
        </p:nvSpPr>
        <p:spPr>
          <a:xfrm rot="0">
            <a:off x="10490823" y="5634606"/>
            <a:ext cx="6436183" cy="1245718"/>
          </a:xfrm>
          <a:prstGeom prst="rect">
            <a:avLst/>
          </a:prstGeom>
        </p:spPr>
        <p:txBody>
          <a:bodyPr anchor="t" rtlCol="false" tIns="0" lIns="0" bIns="0" rIns="0">
            <a:spAutoFit/>
          </a:bodyPr>
          <a:lstStyle/>
          <a:p>
            <a:pPr algn="l">
              <a:lnSpc>
                <a:spcPts val="2548"/>
              </a:lnSpc>
            </a:pPr>
            <a:r>
              <a:rPr lang="en-US" sz="1860">
                <a:solidFill>
                  <a:srgbClr val="FFFFFF"/>
                </a:solidFill>
                <a:latin typeface="Etna Sans Serif"/>
                <a:ea typeface="Etna Sans Serif"/>
                <a:cs typeface="Etna Sans Serif"/>
                <a:sym typeface="Etna Sans Serif"/>
              </a:rPr>
              <a:t>Comprendere le CWE permette di affrontare le vulnerabilità alla radice. Prenderle in considerazione durante nel ciclo di sviluppo favorisce un codice più sicuro, riduce i rischi e migliora la qualità del software.</a:t>
            </a:r>
          </a:p>
        </p:txBody>
      </p:sp>
      <p:sp>
        <p:nvSpPr>
          <p:cNvPr name="TextBox 17" id="17"/>
          <p:cNvSpPr txBox="true"/>
          <p:nvPr/>
        </p:nvSpPr>
        <p:spPr>
          <a:xfrm rot="0">
            <a:off x="971406" y="2867406"/>
            <a:ext cx="15898306" cy="341376"/>
          </a:xfrm>
          <a:prstGeom prst="rect">
            <a:avLst/>
          </a:prstGeom>
        </p:spPr>
        <p:txBody>
          <a:bodyPr anchor="t" rtlCol="false" tIns="0" lIns="0" bIns="0" rIns="0">
            <a:spAutoFit/>
          </a:bodyPr>
          <a:lstStyle/>
          <a:p>
            <a:pPr algn="ctr">
              <a:lnSpc>
                <a:spcPts val="2592"/>
              </a:lnSpc>
              <a:spcBef>
                <a:spcPct val="0"/>
              </a:spcBef>
            </a:pPr>
            <a:r>
              <a:rPr lang="en-US" sz="2400" spc="302">
                <a:solidFill>
                  <a:srgbClr val="FFFFFF"/>
                </a:solidFill>
                <a:latin typeface="HK Modular"/>
                <a:ea typeface="HK Modular"/>
                <a:cs typeface="HK Modular"/>
                <a:sym typeface="HK Modular"/>
              </a:rPr>
              <a:t>Common weakness enumeration</a:t>
            </a:r>
          </a:p>
        </p:txBody>
      </p:sp>
      <p:sp>
        <p:nvSpPr>
          <p:cNvPr name="TextBox 18" id="18"/>
          <p:cNvSpPr txBox="true"/>
          <p:nvPr/>
        </p:nvSpPr>
        <p:spPr>
          <a:xfrm rot="0">
            <a:off x="2049858" y="8793480"/>
            <a:ext cx="13741401" cy="448310"/>
          </a:xfrm>
          <a:prstGeom prst="rect">
            <a:avLst/>
          </a:prstGeom>
        </p:spPr>
        <p:txBody>
          <a:bodyPr anchor="t" rtlCol="false" tIns="0" lIns="0" bIns="0" rIns="0">
            <a:spAutoFit/>
          </a:bodyPr>
          <a:lstStyle/>
          <a:p>
            <a:pPr algn="ctr">
              <a:lnSpc>
                <a:spcPts val="3640"/>
              </a:lnSpc>
            </a:pPr>
            <a:r>
              <a:rPr lang="en-US" sz="2600" i="true">
                <a:solidFill>
                  <a:srgbClr val="FFFFFF"/>
                </a:solidFill>
                <a:latin typeface="Canva Sans Italics"/>
                <a:ea typeface="Canva Sans Italics"/>
                <a:cs typeface="Canva Sans Italics"/>
                <a:sym typeface="Canva Sans Italics"/>
              </a:rPr>
              <a:t>P</a:t>
            </a:r>
            <a:r>
              <a:rPr lang="en-US" sz="2600" i="true">
                <a:solidFill>
                  <a:srgbClr val="FFFFFF"/>
                </a:solidFill>
                <a:latin typeface="Canva Sans Italics"/>
                <a:ea typeface="Canva Sans Italics"/>
                <a:cs typeface="Canva Sans Italics"/>
                <a:sym typeface="Canva Sans Italics"/>
              </a:rPr>
              <a:t>revenire le vulnerabilità significa riconoscerne le cause prima che diventino attacchi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11374150" y="3445141"/>
            <a:ext cx="6600236" cy="6109891"/>
            <a:chOff x="0" y="0"/>
            <a:chExt cx="1738334" cy="1609189"/>
          </a:xfrm>
        </p:grpSpPr>
        <p:sp>
          <p:nvSpPr>
            <p:cNvPr name="Freeform 4" id="4"/>
            <p:cNvSpPr/>
            <p:nvPr/>
          </p:nvSpPr>
          <p:spPr>
            <a:xfrm flipH="false" flipV="false" rot="0">
              <a:off x="0" y="0"/>
              <a:ext cx="1738334" cy="1609189"/>
            </a:xfrm>
            <a:custGeom>
              <a:avLst/>
              <a:gdLst/>
              <a:ahLst/>
              <a:cxnLst/>
              <a:rect r="r" b="b" t="t" l="l"/>
              <a:pathLst>
                <a:path h="1609189" w="1738334">
                  <a:moveTo>
                    <a:pt x="0" y="0"/>
                  </a:moveTo>
                  <a:lnTo>
                    <a:pt x="1738334" y="0"/>
                  </a:lnTo>
                  <a:lnTo>
                    <a:pt x="1738334" y="1609189"/>
                  </a:lnTo>
                  <a:lnTo>
                    <a:pt x="0" y="1609189"/>
                  </a:lnTo>
                  <a:close/>
                </a:path>
              </a:pathLst>
            </a:custGeom>
            <a:solidFill>
              <a:srgbClr val="39414D"/>
            </a:solidFill>
          </p:spPr>
        </p:sp>
        <p:sp>
          <p:nvSpPr>
            <p:cNvPr name="TextBox 5" id="5"/>
            <p:cNvSpPr txBox="true"/>
            <p:nvPr/>
          </p:nvSpPr>
          <p:spPr>
            <a:xfrm>
              <a:off x="0" y="-19050"/>
              <a:ext cx="1738334" cy="1628239"/>
            </a:xfrm>
            <a:prstGeom prst="rect">
              <a:avLst/>
            </a:prstGeom>
          </p:spPr>
          <p:txBody>
            <a:bodyPr anchor="ctr" rtlCol="false" tIns="50800" lIns="50800" bIns="50800" rIns="50800"/>
            <a:lstStyle/>
            <a:p>
              <a:pPr algn="l">
                <a:lnSpc>
                  <a:spcPts val="3168"/>
                </a:lnSpc>
              </a:pPr>
              <a:r>
                <a:rPr lang="en-US" sz="2475">
                  <a:solidFill>
                    <a:srgbClr val="FFFFFF"/>
                  </a:solidFill>
                  <a:latin typeface="Etna Sans Serif"/>
                  <a:ea typeface="Etna Sans Serif"/>
                  <a:cs typeface="Etna Sans Serif"/>
                  <a:sym typeface="Etna Sans Serif"/>
                </a:rPr>
                <a:t>🛠 Descrizione</a:t>
              </a:r>
            </a:p>
            <a:p>
              <a:pPr algn="l">
                <a:lnSpc>
                  <a:spcPts val="1237"/>
                </a:lnSpc>
              </a:pPr>
            </a:p>
            <a:p>
              <a:pPr algn="l">
                <a:lnSpc>
                  <a:spcPts val="2272"/>
                </a:lnSpc>
              </a:pPr>
              <a:r>
                <a:rPr lang="en-US" sz="1775">
                  <a:solidFill>
                    <a:srgbClr val="FFFFFF"/>
                  </a:solidFill>
                  <a:latin typeface="Etna Sans Serif"/>
                  <a:ea typeface="Etna Sans Serif"/>
                  <a:cs typeface="Etna Sans Serif"/>
                  <a:sym typeface="Etna Sans Serif"/>
                </a:rPr>
                <a:t>Il software copia un buffer di input in un buffer di output senza controllare che la dimensione sia compatibile.</a:t>
              </a:r>
            </a:p>
            <a:p>
              <a:pPr algn="l">
                <a:lnSpc>
                  <a:spcPts val="2272"/>
                </a:lnSpc>
              </a:pPr>
            </a:p>
            <a:p>
              <a:pPr algn="l">
                <a:lnSpc>
                  <a:spcPts val="2272"/>
                </a:lnSpc>
              </a:pPr>
              <a:r>
                <a:rPr lang="en-US" sz="1775">
                  <a:solidFill>
                    <a:srgbClr val="FFFFFF"/>
                  </a:solidFill>
                  <a:latin typeface="Etna Sans Serif"/>
                  <a:ea typeface="Etna Sans Serif"/>
                  <a:cs typeface="Etna Sans Serif"/>
                  <a:sym typeface="Etna Sans Serif"/>
                </a:rPr>
                <a:t>Un buffer overflow si verifica quando un'applicazione tenta di scrivere più dati di quanti ne possa contenere un'area di memoria (buffer).</a:t>
              </a:r>
            </a:p>
            <a:p>
              <a:pPr algn="l" marL="383296" indent="-191648" lvl="1">
                <a:lnSpc>
                  <a:spcPts val="2272"/>
                </a:lnSpc>
                <a:buFont typeface="Arial"/>
                <a:buChar char="•"/>
              </a:pPr>
              <a:r>
                <a:rPr lang="en-US" sz="1775">
                  <a:solidFill>
                    <a:srgbClr val="FFFFFF"/>
                  </a:solidFill>
                  <a:latin typeface="Etna Sans Serif"/>
                  <a:ea typeface="Etna Sans Serif"/>
                  <a:cs typeface="Etna Sans Serif"/>
                  <a:sym typeface="Etna Sans Serif"/>
                </a:rPr>
                <a:t>Nel caso classico, il problema nasce dalla mancanza di limiti nel copia-incolla dei dati.</a:t>
              </a:r>
            </a:p>
            <a:p>
              <a:pPr algn="l" marL="383296" indent="-191648" lvl="1">
                <a:lnSpc>
                  <a:spcPts val="2272"/>
                </a:lnSpc>
                <a:buFont typeface="Arial"/>
                <a:buChar char="•"/>
              </a:pPr>
              <a:r>
                <a:rPr lang="en-US" sz="1775">
                  <a:solidFill>
                    <a:srgbClr val="FFFFFF"/>
                  </a:solidFill>
                  <a:latin typeface="Etna Sans Serif"/>
                  <a:ea typeface="Etna Sans Serif"/>
                  <a:cs typeface="Etna Sans Serif"/>
                  <a:sym typeface="Etna Sans Serif"/>
                </a:rPr>
                <a:t>È indice di scarsa attenzione alla sicurezza: nessuna validazione delle dimensioni, né protezione di base.</a:t>
              </a:r>
            </a:p>
            <a:p>
              <a:pPr algn="l">
                <a:lnSpc>
                  <a:spcPts val="2272"/>
                </a:lnSpc>
              </a:pPr>
            </a:p>
            <a:p>
              <a:pPr algn="l">
                <a:lnSpc>
                  <a:spcPts val="2272"/>
                </a:lnSpc>
              </a:pPr>
              <a:r>
                <a:rPr lang="en-US" sz="1775">
                  <a:solidFill>
                    <a:srgbClr val="FFFFFF"/>
                  </a:solidFill>
                  <a:latin typeface="Etna Sans Serif"/>
                  <a:ea typeface="Etna Sans Serif"/>
                  <a:cs typeface="Etna Sans Serif"/>
                  <a:sym typeface="Etna Sans Serif"/>
                </a:rPr>
                <a:t>Questo porta a un buffer overflow, una delle vulnerabilità più gravi e sfruttate. </a:t>
              </a:r>
            </a:p>
            <a:p>
              <a:pPr algn="l">
                <a:lnSpc>
                  <a:spcPts val="1917"/>
                </a:lnSpc>
              </a:pPr>
            </a:p>
            <a:p>
              <a:pPr algn="l">
                <a:lnSpc>
                  <a:spcPts val="1917"/>
                </a:lnSpc>
              </a:pPr>
            </a:p>
            <a:p>
              <a:pPr algn="ctr">
                <a:lnSpc>
                  <a:spcPts val="1917"/>
                </a:lnSpc>
              </a:pPr>
            </a:p>
          </p:txBody>
        </p:sp>
      </p:grpSp>
      <p:grpSp>
        <p:nvGrpSpPr>
          <p:cNvPr name="Group 6" id="6"/>
          <p:cNvGrpSpPr/>
          <p:nvPr/>
        </p:nvGrpSpPr>
        <p:grpSpPr>
          <a:xfrm rot="0">
            <a:off x="11374150" y="2739351"/>
            <a:ext cx="6600236" cy="823589"/>
            <a:chOff x="0" y="0"/>
            <a:chExt cx="1738334" cy="216912"/>
          </a:xfrm>
        </p:grpSpPr>
        <p:sp>
          <p:nvSpPr>
            <p:cNvPr name="Freeform 7" id="7"/>
            <p:cNvSpPr/>
            <p:nvPr/>
          </p:nvSpPr>
          <p:spPr>
            <a:xfrm flipH="false" flipV="false" rot="0">
              <a:off x="0" y="0"/>
              <a:ext cx="1738334" cy="216912"/>
            </a:xfrm>
            <a:custGeom>
              <a:avLst/>
              <a:gdLst/>
              <a:ahLst/>
              <a:cxnLst/>
              <a:rect r="r" b="b" t="t" l="l"/>
              <a:pathLst>
                <a:path h="216912" w="1738334">
                  <a:moveTo>
                    <a:pt x="0" y="0"/>
                  </a:moveTo>
                  <a:lnTo>
                    <a:pt x="1738334" y="0"/>
                  </a:lnTo>
                  <a:lnTo>
                    <a:pt x="1738334" y="216912"/>
                  </a:lnTo>
                  <a:lnTo>
                    <a:pt x="0" y="216912"/>
                  </a:lnTo>
                  <a:close/>
                </a:path>
              </a:pathLst>
            </a:custGeom>
            <a:solidFill>
              <a:srgbClr val="050A18"/>
            </a:solidFill>
          </p:spPr>
        </p:sp>
        <p:sp>
          <p:nvSpPr>
            <p:cNvPr name="TextBox 8" id="8"/>
            <p:cNvSpPr txBox="true"/>
            <p:nvPr/>
          </p:nvSpPr>
          <p:spPr>
            <a:xfrm>
              <a:off x="0" y="9525"/>
              <a:ext cx="1738334" cy="207387"/>
            </a:xfrm>
            <a:prstGeom prst="rect">
              <a:avLst/>
            </a:prstGeom>
          </p:spPr>
          <p:txBody>
            <a:bodyPr anchor="ctr" rtlCol="false" tIns="50800" lIns="50800" bIns="50800" rIns="50800"/>
            <a:lstStyle/>
            <a:p>
              <a:pPr algn="ctr">
                <a:lnSpc>
                  <a:spcPts val="1404"/>
                </a:lnSpc>
              </a:pPr>
              <a:r>
                <a:rPr lang="en-US" b="true" sz="1300" spc="163">
                  <a:solidFill>
                    <a:srgbClr val="FFFFFF"/>
                  </a:solidFill>
                  <a:latin typeface="HK Modular"/>
                  <a:ea typeface="HK Modular"/>
                  <a:cs typeface="HK Modular"/>
                  <a:sym typeface="HK Modular"/>
                </a:rPr>
                <a:t>CWE-120: Buffer Copy without Checking Size of Input</a:t>
              </a:r>
            </a:p>
          </p:txBody>
        </p:sp>
      </p:grpSp>
      <p:grpSp>
        <p:nvGrpSpPr>
          <p:cNvPr name="Group 9" id="9"/>
          <p:cNvGrpSpPr/>
          <p:nvPr/>
        </p:nvGrpSpPr>
        <p:grpSpPr>
          <a:xfrm rot="0">
            <a:off x="8732697" y="6615055"/>
            <a:ext cx="2009598" cy="975494"/>
            <a:chOff x="0" y="0"/>
            <a:chExt cx="1085167" cy="526759"/>
          </a:xfrm>
        </p:grpSpPr>
        <p:sp>
          <p:nvSpPr>
            <p:cNvPr name="Freeform 10" id="10"/>
            <p:cNvSpPr/>
            <p:nvPr/>
          </p:nvSpPr>
          <p:spPr>
            <a:xfrm flipH="false" flipV="false" rot="0">
              <a:off x="0" y="0"/>
              <a:ext cx="1085167" cy="526759"/>
            </a:xfrm>
            <a:custGeom>
              <a:avLst/>
              <a:gdLst/>
              <a:ahLst/>
              <a:cxnLst/>
              <a:rect r="r" b="b" t="t" l="l"/>
              <a:pathLst>
                <a:path h="526759" w="1085167">
                  <a:moveTo>
                    <a:pt x="1085167" y="263379"/>
                  </a:moveTo>
                  <a:lnTo>
                    <a:pt x="678767" y="0"/>
                  </a:lnTo>
                  <a:lnTo>
                    <a:pt x="678767" y="203200"/>
                  </a:lnTo>
                  <a:lnTo>
                    <a:pt x="0" y="203200"/>
                  </a:lnTo>
                  <a:lnTo>
                    <a:pt x="0" y="323559"/>
                  </a:lnTo>
                  <a:lnTo>
                    <a:pt x="678767" y="323559"/>
                  </a:lnTo>
                  <a:lnTo>
                    <a:pt x="678767" y="526759"/>
                  </a:lnTo>
                  <a:lnTo>
                    <a:pt x="1085167" y="263379"/>
                  </a:lnTo>
                  <a:close/>
                </a:path>
              </a:pathLst>
            </a:custGeom>
            <a:solidFill>
              <a:srgbClr val="FFFFFF"/>
            </a:solidFill>
          </p:spPr>
        </p:sp>
        <p:sp>
          <p:nvSpPr>
            <p:cNvPr name="TextBox 11" id="11"/>
            <p:cNvSpPr txBox="true"/>
            <p:nvPr/>
          </p:nvSpPr>
          <p:spPr>
            <a:xfrm>
              <a:off x="0" y="222250"/>
              <a:ext cx="983567" cy="101309"/>
            </a:xfrm>
            <a:prstGeom prst="rect">
              <a:avLst/>
            </a:prstGeom>
          </p:spPr>
          <p:txBody>
            <a:bodyPr anchor="ctr" rtlCol="false" tIns="50800" lIns="50800" bIns="50800" rIns="50800"/>
            <a:lstStyle/>
            <a:p>
              <a:pPr algn="ctr">
                <a:lnSpc>
                  <a:spcPts val="2592"/>
                </a:lnSpc>
              </a:pPr>
            </a:p>
          </p:txBody>
        </p:sp>
      </p:grpSp>
      <p:graphicFrame>
        <p:nvGraphicFramePr>
          <p:cNvPr name="Table 12" id="12"/>
          <p:cNvGraphicFramePr>
            <a:graphicFrameLocks noGrp="true"/>
          </p:cNvGraphicFramePr>
          <p:nvPr/>
        </p:nvGraphicFramePr>
        <p:xfrm>
          <a:off x="266315" y="3548362"/>
          <a:ext cx="7999639" cy="5903449"/>
        </p:xfrm>
        <a:graphic>
          <a:graphicData uri="http://schemas.openxmlformats.org/drawingml/2006/table">
            <a:tbl>
              <a:tblPr/>
              <a:tblGrid>
                <a:gridCol w="3981621"/>
                <a:gridCol w="4018018"/>
              </a:tblGrid>
              <a:tr h="1159026">
                <a:tc>
                  <a:txBody>
                    <a:bodyPr anchor="t" rtlCol="false"/>
                    <a:lstStyle/>
                    <a:p>
                      <a:pPr algn="ctr">
                        <a:lnSpc>
                          <a:spcPts val="4025"/>
                        </a:lnSpc>
                        <a:defRPr/>
                      </a:pPr>
                      <a:r>
                        <a:rPr lang="en-US" sz="2875">
                          <a:solidFill>
                            <a:srgbClr val="FFFFFF"/>
                          </a:solidFill>
                          <a:latin typeface="Etna Sans Serif"/>
                          <a:ea typeface="Etna Sans Serif"/>
                          <a:cs typeface="Etna Sans Serif"/>
                          <a:sym typeface="Etna Sans Serif"/>
                        </a:rPr>
                        <a:t>CVE ID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050A18"/>
                    </a:solidFill>
                  </a:tcPr>
                </a:tc>
                <a:tc>
                  <a:txBody>
                    <a:bodyPr anchor="t" rtlCol="false"/>
                    <a:lstStyle/>
                    <a:p>
                      <a:pPr algn="ctr">
                        <a:lnSpc>
                          <a:spcPts val="4025"/>
                        </a:lnSpc>
                        <a:defRPr/>
                      </a:pPr>
                      <a:r>
                        <a:rPr lang="en-US" sz="2875">
                          <a:solidFill>
                            <a:srgbClr val="FFFFFF"/>
                          </a:solidFill>
                          <a:latin typeface="Etna Sans Serif"/>
                          <a:ea typeface="Etna Sans Serif"/>
                          <a:cs typeface="Etna Sans Serif"/>
                          <a:sym typeface="Etna Sans Serif"/>
                        </a:rPr>
                        <a:t>Descrizione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050A18"/>
                    </a:solidFill>
                  </a:tcPr>
                </a:tc>
              </a:tr>
              <a:tr h="1581474">
                <a:tc>
                  <a:txBody>
                    <a:bodyPr anchor="t" rtlCol="false"/>
                    <a:lstStyle/>
                    <a:p>
                      <a:pPr algn="ctr">
                        <a:lnSpc>
                          <a:spcPts val="2485"/>
                        </a:lnSpc>
                        <a:defRPr/>
                      </a:pPr>
                      <a:r>
                        <a:rPr lang="en-US" sz="1775">
                          <a:solidFill>
                            <a:srgbClr val="FFFFFF"/>
                          </a:solidFill>
                          <a:latin typeface="Etna Sans Serif"/>
                          <a:ea typeface="Etna Sans Serif"/>
                          <a:cs typeface="Etna Sans Serif"/>
                          <a:sym typeface="Etna Sans Serif"/>
                        </a:rPr>
                        <a:t>CVE-2000-1094</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050A18"/>
                    </a:solidFill>
                  </a:tcPr>
                </a:tc>
                <a:tc>
                  <a:txBody>
                    <a:bodyPr anchor="t" rtlCol="false"/>
                    <a:lstStyle/>
                    <a:p>
                      <a:pPr algn="ctr">
                        <a:lnSpc>
                          <a:spcPts val="2485"/>
                        </a:lnSpc>
                        <a:defRPr/>
                      </a:pPr>
                      <a:r>
                        <a:rPr lang="en-US" sz="1775">
                          <a:solidFill>
                            <a:srgbClr val="FFFFFF"/>
                          </a:solidFill>
                          <a:latin typeface="Etna Sans Serif"/>
                          <a:ea typeface="Etna Sans Serif"/>
                          <a:cs typeface="Etna Sans Serif"/>
                          <a:sym typeface="Etna Sans Serif"/>
                        </a:rPr>
                        <a:t>Buffer overflow tramite comando con argomento troppo lungo</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050A18"/>
                    </a:solidFill>
                  </a:tcPr>
                </a:tc>
              </a:tr>
              <a:tr h="1581474">
                <a:tc>
                  <a:txBody>
                    <a:bodyPr anchor="t" rtlCol="false"/>
                    <a:lstStyle/>
                    <a:p>
                      <a:pPr algn="ctr">
                        <a:lnSpc>
                          <a:spcPts val="2485"/>
                        </a:lnSpc>
                        <a:defRPr/>
                      </a:pPr>
                      <a:r>
                        <a:rPr lang="en-US" sz="1775">
                          <a:solidFill>
                            <a:srgbClr val="FFFFFF"/>
                          </a:solidFill>
                          <a:latin typeface="Etna Sans Serif"/>
                          <a:ea typeface="Etna Sans Serif"/>
                          <a:cs typeface="Etna Sans Serif"/>
                          <a:sym typeface="Etna Sans Serif"/>
                        </a:rPr>
                        <a:t>CVE-1999-0046</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050A18"/>
                    </a:solidFill>
                  </a:tcPr>
                </a:tc>
                <a:tc>
                  <a:txBody>
                    <a:bodyPr anchor="t" rtlCol="false"/>
                    <a:lstStyle/>
                    <a:p>
                      <a:pPr algn="ctr">
                        <a:lnSpc>
                          <a:spcPts val="2485"/>
                        </a:lnSpc>
                        <a:defRPr/>
                      </a:pPr>
                      <a:r>
                        <a:rPr lang="en-US" sz="1775">
                          <a:solidFill>
                            <a:srgbClr val="FFFFFF"/>
                          </a:solidFill>
                          <a:latin typeface="Etna Sans Serif"/>
                          <a:ea typeface="Etna Sans Serif"/>
                          <a:cs typeface="Etna Sans Serif"/>
                          <a:sym typeface="Etna Sans Serif"/>
                        </a:rPr>
                        <a:t>Overflow causato da una variabile d'ambiente eccessivamente lunga</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050A18"/>
                    </a:solidFill>
                  </a:tcPr>
                </a:tc>
              </a:tr>
              <a:tr h="1581474">
                <a:tc>
                  <a:txBody>
                    <a:bodyPr anchor="t" rtlCol="false"/>
                    <a:lstStyle/>
                    <a:p>
                      <a:pPr algn="ctr">
                        <a:lnSpc>
                          <a:spcPts val="2485"/>
                        </a:lnSpc>
                        <a:defRPr/>
                      </a:pPr>
                      <a:r>
                        <a:rPr lang="en-US" sz="1775">
                          <a:solidFill>
                            <a:srgbClr val="FFFFFF"/>
                          </a:solidFill>
                          <a:latin typeface="Etna Sans Serif"/>
                          <a:ea typeface="Etna Sans Serif"/>
                          <a:cs typeface="Etna Sans Serif"/>
                          <a:sym typeface="Etna Sans Serif"/>
                        </a:rPr>
                        <a:t>CVE-2002-1337</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050A18"/>
                    </a:solidFill>
                  </a:tcPr>
                </a:tc>
                <a:tc>
                  <a:txBody>
                    <a:bodyPr anchor="t" rtlCol="false"/>
                    <a:lstStyle/>
                    <a:p>
                      <a:pPr algn="ctr">
                        <a:lnSpc>
                          <a:spcPts val="2485"/>
                        </a:lnSpc>
                        <a:defRPr/>
                      </a:pPr>
                      <a:r>
                        <a:rPr lang="en-US" sz="1775">
                          <a:solidFill>
                            <a:srgbClr val="FFFFFF"/>
                          </a:solidFill>
                          <a:latin typeface="Etna Sans Serif"/>
                          <a:ea typeface="Etna Sans Serif"/>
                          <a:cs typeface="Etna Sans Serif"/>
                          <a:sym typeface="Etna Sans Serif"/>
                        </a:rPr>
                        <a:t>Overflow usando caratteri di commento non bilanciati (&gt; senza &lt;)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050A18"/>
                    </a:solidFill>
                  </a:tcPr>
                </a:tc>
              </a:tr>
            </a:tbl>
          </a:graphicData>
        </a:graphic>
      </p:graphicFrame>
      <p:sp>
        <p:nvSpPr>
          <p:cNvPr name="TextBox 13" id="13"/>
          <p:cNvSpPr txBox="true"/>
          <p:nvPr/>
        </p:nvSpPr>
        <p:spPr>
          <a:xfrm rot="0">
            <a:off x="1028700" y="1095375"/>
            <a:ext cx="15898306" cy="879863"/>
          </a:xfrm>
          <a:prstGeom prst="rect">
            <a:avLst/>
          </a:prstGeom>
        </p:spPr>
        <p:txBody>
          <a:bodyPr anchor="t" rtlCol="false" tIns="0" lIns="0" bIns="0" rIns="0">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CVE / CWE</a:t>
            </a:r>
          </a:p>
        </p:txBody>
      </p:sp>
      <p:sp>
        <p:nvSpPr>
          <p:cNvPr name="TextBox 14" id="14"/>
          <p:cNvSpPr txBox="true"/>
          <p:nvPr/>
        </p:nvSpPr>
        <p:spPr>
          <a:xfrm rot="0">
            <a:off x="1028700" y="2101243"/>
            <a:ext cx="15898306" cy="341376"/>
          </a:xfrm>
          <a:prstGeom prst="rect">
            <a:avLst/>
          </a:prstGeom>
        </p:spPr>
        <p:txBody>
          <a:bodyPr anchor="t" rtlCol="false" tIns="0" lIns="0" bIns="0" rIns="0">
            <a:spAutoFit/>
          </a:bodyPr>
          <a:lstStyle/>
          <a:p>
            <a:pPr algn="ctr">
              <a:lnSpc>
                <a:spcPts val="2592"/>
              </a:lnSpc>
              <a:spcBef>
                <a:spcPct val="0"/>
              </a:spcBef>
            </a:pPr>
            <a:r>
              <a:rPr lang="en-US" sz="2400" spc="302">
                <a:solidFill>
                  <a:srgbClr val="FFFFFF"/>
                </a:solidFill>
                <a:latin typeface="HK Modular"/>
                <a:ea typeface="HK Modular"/>
                <a:cs typeface="HK Modular"/>
                <a:sym typeface="HK Modular"/>
              </a:rPr>
              <a:t>mapping</a:t>
            </a:r>
          </a:p>
        </p:txBody>
      </p:sp>
      <p:sp>
        <p:nvSpPr>
          <p:cNvPr name="TextBox 15" id="15"/>
          <p:cNvSpPr txBox="true"/>
          <p:nvPr/>
        </p:nvSpPr>
        <p:spPr>
          <a:xfrm rot="0">
            <a:off x="266315" y="10023870"/>
            <a:ext cx="269418" cy="148056"/>
          </a:xfrm>
          <a:prstGeom prst="rect">
            <a:avLst/>
          </a:prstGeom>
        </p:spPr>
        <p:txBody>
          <a:bodyPr anchor="t" rtlCol="false" tIns="0" lIns="0" bIns="0" rIns="0">
            <a:spAutoFit/>
          </a:bodyPr>
          <a:lstStyle/>
          <a:p>
            <a:pPr algn="l">
              <a:lnSpc>
                <a:spcPts val="1162"/>
              </a:lnSpc>
            </a:pPr>
            <a:r>
              <a:rPr lang="en-US" sz="830" u="sng">
                <a:solidFill>
                  <a:srgbClr val="FFFFFF"/>
                </a:solidFill>
                <a:latin typeface="Arimo"/>
                <a:ea typeface="Arimo"/>
                <a:cs typeface="Arimo"/>
                <a:sym typeface="Arimo"/>
              </a:rPr>
              <a:t>Fonte</a:t>
            </a:r>
          </a:p>
        </p:txBody>
      </p:sp>
      <p:grpSp>
        <p:nvGrpSpPr>
          <p:cNvPr name="Group 16" id="16"/>
          <p:cNvGrpSpPr/>
          <p:nvPr/>
        </p:nvGrpSpPr>
        <p:grpSpPr>
          <a:xfrm rot="0">
            <a:off x="8732697" y="5036846"/>
            <a:ext cx="2009598" cy="975494"/>
            <a:chOff x="0" y="0"/>
            <a:chExt cx="1085167" cy="526759"/>
          </a:xfrm>
        </p:grpSpPr>
        <p:sp>
          <p:nvSpPr>
            <p:cNvPr name="Freeform 17" id="17"/>
            <p:cNvSpPr/>
            <p:nvPr/>
          </p:nvSpPr>
          <p:spPr>
            <a:xfrm flipH="false" flipV="false" rot="0">
              <a:off x="0" y="0"/>
              <a:ext cx="1085167" cy="526759"/>
            </a:xfrm>
            <a:custGeom>
              <a:avLst/>
              <a:gdLst/>
              <a:ahLst/>
              <a:cxnLst/>
              <a:rect r="r" b="b" t="t" l="l"/>
              <a:pathLst>
                <a:path h="526759" w="1085167">
                  <a:moveTo>
                    <a:pt x="1085167" y="263379"/>
                  </a:moveTo>
                  <a:lnTo>
                    <a:pt x="678767" y="0"/>
                  </a:lnTo>
                  <a:lnTo>
                    <a:pt x="678767" y="203200"/>
                  </a:lnTo>
                  <a:lnTo>
                    <a:pt x="0" y="203200"/>
                  </a:lnTo>
                  <a:lnTo>
                    <a:pt x="0" y="323559"/>
                  </a:lnTo>
                  <a:lnTo>
                    <a:pt x="678767" y="323559"/>
                  </a:lnTo>
                  <a:lnTo>
                    <a:pt x="678767" y="526759"/>
                  </a:lnTo>
                  <a:lnTo>
                    <a:pt x="1085167" y="263379"/>
                  </a:lnTo>
                  <a:close/>
                </a:path>
              </a:pathLst>
            </a:custGeom>
            <a:solidFill>
              <a:srgbClr val="FFFFFF"/>
            </a:solidFill>
          </p:spPr>
        </p:sp>
        <p:sp>
          <p:nvSpPr>
            <p:cNvPr name="TextBox 18" id="18"/>
            <p:cNvSpPr txBox="true"/>
            <p:nvPr/>
          </p:nvSpPr>
          <p:spPr>
            <a:xfrm>
              <a:off x="0" y="222250"/>
              <a:ext cx="983567" cy="101309"/>
            </a:xfrm>
            <a:prstGeom prst="rect">
              <a:avLst/>
            </a:prstGeom>
          </p:spPr>
          <p:txBody>
            <a:bodyPr anchor="ctr" rtlCol="false" tIns="50800" lIns="50800" bIns="50800" rIns="50800"/>
            <a:lstStyle/>
            <a:p>
              <a:pPr algn="ctr">
                <a:lnSpc>
                  <a:spcPts val="2592"/>
                </a:lnSpc>
              </a:pPr>
            </a:p>
          </p:txBody>
        </p:sp>
      </p:grpSp>
      <p:grpSp>
        <p:nvGrpSpPr>
          <p:cNvPr name="Group 19" id="19"/>
          <p:cNvGrpSpPr/>
          <p:nvPr/>
        </p:nvGrpSpPr>
        <p:grpSpPr>
          <a:xfrm rot="0">
            <a:off x="8732697" y="8190623"/>
            <a:ext cx="2009598" cy="975494"/>
            <a:chOff x="0" y="0"/>
            <a:chExt cx="1085167" cy="526759"/>
          </a:xfrm>
        </p:grpSpPr>
        <p:sp>
          <p:nvSpPr>
            <p:cNvPr name="Freeform 20" id="20"/>
            <p:cNvSpPr/>
            <p:nvPr/>
          </p:nvSpPr>
          <p:spPr>
            <a:xfrm flipH="false" flipV="false" rot="0">
              <a:off x="0" y="0"/>
              <a:ext cx="1085167" cy="526759"/>
            </a:xfrm>
            <a:custGeom>
              <a:avLst/>
              <a:gdLst/>
              <a:ahLst/>
              <a:cxnLst/>
              <a:rect r="r" b="b" t="t" l="l"/>
              <a:pathLst>
                <a:path h="526759" w="1085167">
                  <a:moveTo>
                    <a:pt x="1085167" y="263379"/>
                  </a:moveTo>
                  <a:lnTo>
                    <a:pt x="678767" y="0"/>
                  </a:lnTo>
                  <a:lnTo>
                    <a:pt x="678767" y="203200"/>
                  </a:lnTo>
                  <a:lnTo>
                    <a:pt x="0" y="203200"/>
                  </a:lnTo>
                  <a:lnTo>
                    <a:pt x="0" y="323559"/>
                  </a:lnTo>
                  <a:lnTo>
                    <a:pt x="678767" y="323559"/>
                  </a:lnTo>
                  <a:lnTo>
                    <a:pt x="678767" y="526759"/>
                  </a:lnTo>
                  <a:lnTo>
                    <a:pt x="1085167" y="263379"/>
                  </a:lnTo>
                  <a:close/>
                </a:path>
              </a:pathLst>
            </a:custGeom>
            <a:solidFill>
              <a:srgbClr val="FFFFFF"/>
            </a:solidFill>
          </p:spPr>
        </p:sp>
        <p:sp>
          <p:nvSpPr>
            <p:cNvPr name="TextBox 21" id="21"/>
            <p:cNvSpPr txBox="true"/>
            <p:nvPr/>
          </p:nvSpPr>
          <p:spPr>
            <a:xfrm>
              <a:off x="0" y="222250"/>
              <a:ext cx="983567" cy="101309"/>
            </a:xfrm>
            <a:prstGeom prst="rect">
              <a:avLst/>
            </a:prstGeom>
          </p:spPr>
          <p:txBody>
            <a:bodyPr anchor="ctr" rtlCol="false" tIns="50800" lIns="50800" bIns="50800" rIns="50800"/>
            <a:lstStyle/>
            <a:p>
              <a:pPr algn="ctr">
                <a:lnSpc>
                  <a:spcPts val="2592"/>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347778" y="5182900"/>
            <a:ext cx="17480239" cy="4413760"/>
          </a:xfrm>
          <a:custGeom>
            <a:avLst/>
            <a:gdLst/>
            <a:ahLst/>
            <a:cxnLst/>
            <a:rect r="r" b="b" t="t" l="l"/>
            <a:pathLst>
              <a:path h="4413760" w="17480239">
                <a:moveTo>
                  <a:pt x="0" y="0"/>
                </a:moveTo>
                <a:lnTo>
                  <a:pt x="17480238" y="0"/>
                </a:lnTo>
                <a:lnTo>
                  <a:pt x="17480238" y="4413760"/>
                </a:lnTo>
                <a:lnTo>
                  <a:pt x="0" y="4413760"/>
                </a:lnTo>
                <a:lnTo>
                  <a:pt x="0" y="0"/>
                </a:lnTo>
                <a:close/>
              </a:path>
            </a:pathLst>
          </a:custGeom>
          <a:blipFill>
            <a:blip r:embed="rId3"/>
            <a:stretch>
              <a:fillRect l="0" t="0" r="0" b="0"/>
            </a:stretch>
          </a:blipFill>
        </p:spPr>
      </p:sp>
      <p:sp>
        <p:nvSpPr>
          <p:cNvPr name="TextBox 4" id="4"/>
          <p:cNvSpPr txBox="true"/>
          <p:nvPr/>
        </p:nvSpPr>
        <p:spPr>
          <a:xfrm rot="0">
            <a:off x="347778" y="2958354"/>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O</a:t>
            </a:r>
            <a:r>
              <a:rPr lang="en-US" sz="2846">
                <a:solidFill>
                  <a:srgbClr val="FFFFFF"/>
                </a:solidFill>
                <a:latin typeface="Etna Sans Serif"/>
                <a:ea typeface="Etna Sans Serif"/>
                <a:cs typeface="Etna Sans Serif"/>
                <a:sym typeface="Etna Sans Serif"/>
              </a:rPr>
              <a:t>gni CVE </a:t>
            </a:r>
            <a:r>
              <a:rPr lang="en-US" sz="2846">
                <a:solidFill>
                  <a:srgbClr val="FFFFFF"/>
                </a:solidFill>
                <a:latin typeface="Etna Sans Serif"/>
                <a:ea typeface="Etna Sans Serif"/>
                <a:cs typeface="Etna Sans Serif"/>
                <a:sym typeface="Etna Sans Serif"/>
              </a:rPr>
              <a:t>viene mappata su una specifica CWE, per identificare l’origine tecnica dell’errore. Debolezze come Out-of-Bounds, Cross-site Scripting o Input Validation sono tra le più comuni e costituiscono un riferimento critico per sviluppatori e analisti.</a:t>
            </a:r>
          </a:p>
        </p:txBody>
      </p:sp>
      <p:sp>
        <p:nvSpPr>
          <p:cNvPr name="TextBox 5" id="5"/>
          <p:cNvSpPr txBox="true"/>
          <p:nvPr/>
        </p:nvSpPr>
        <p:spPr>
          <a:xfrm rot="0">
            <a:off x="1752268" y="481810"/>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CWE maggiormente critiche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451000" y="3872771"/>
            <a:ext cx="17259300" cy="6148626"/>
          </a:xfrm>
          <a:custGeom>
            <a:avLst/>
            <a:gdLst/>
            <a:ahLst/>
            <a:cxnLst/>
            <a:rect r="r" b="b" t="t" l="l"/>
            <a:pathLst>
              <a:path h="6148626" w="17259300">
                <a:moveTo>
                  <a:pt x="0" y="0"/>
                </a:moveTo>
                <a:lnTo>
                  <a:pt x="17259300" y="0"/>
                </a:lnTo>
                <a:lnTo>
                  <a:pt x="17259300" y="6148626"/>
                </a:lnTo>
                <a:lnTo>
                  <a:pt x="0" y="6148626"/>
                </a:lnTo>
                <a:lnTo>
                  <a:pt x="0" y="0"/>
                </a:lnTo>
                <a:close/>
              </a:path>
            </a:pathLst>
          </a:custGeom>
          <a:blipFill>
            <a:blip r:embed="rId3"/>
            <a:stretch>
              <a:fillRect l="0" t="0" r="0" b="0"/>
            </a:stretch>
          </a:blipFill>
        </p:spPr>
      </p:sp>
      <p:sp>
        <p:nvSpPr>
          <p:cNvPr name="TextBox 4" id="4"/>
          <p:cNvSpPr txBox="true"/>
          <p:nvPr/>
        </p:nvSpPr>
        <p:spPr>
          <a:xfrm rot="0">
            <a:off x="347778" y="2678259"/>
            <a:ext cx="17592445" cy="957720"/>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Out of bounds rappresenta più della metà delle CWE, corrispondenti alle CVE più critiche ovvero quelle con uno score CVSS maggiore.</a:t>
            </a:r>
          </a:p>
        </p:txBody>
      </p:sp>
      <p:sp>
        <p:nvSpPr>
          <p:cNvPr name="TextBox 5" id="5"/>
          <p:cNvSpPr txBox="true"/>
          <p:nvPr/>
        </p:nvSpPr>
        <p:spPr>
          <a:xfrm rot="0">
            <a:off x="1752268" y="487464"/>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debolezze delle cve critiche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526716" y="3324790"/>
            <a:ext cx="17234567" cy="6850741"/>
          </a:xfrm>
          <a:custGeom>
            <a:avLst/>
            <a:gdLst/>
            <a:ahLst/>
            <a:cxnLst/>
            <a:rect r="r" b="b" t="t" l="l"/>
            <a:pathLst>
              <a:path h="6850741" w="17234567">
                <a:moveTo>
                  <a:pt x="0" y="0"/>
                </a:moveTo>
                <a:lnTo>
                  <a:pt x="17234568" y="0"/>
                </a:lnTo>
                <a:lnTo>
                  <a:pt x="17234568" y="6850741"/>
                </a:lnTo>
                <a:lnTo>
                  <a:pt x="0" y="6850741"/>
                </a:lnTo>
                <a:lnTo>
                  <a:pt x="0" y="0"/>
                </a:lnTo>
                <a:close/>
              </a:path>
            </a:pathLst>
          </a:custGeom>
          <a:blipFill>
            <a:blip r:embed="rId3"/>
            <a:stretch>
              <a:fillRect l="0" t="0" r="0" b="0"/>
            </a:stretch>
          </a:blipFill>
        </p:spPr>
      </p:sp>
      <p:sp>
        <p:nvSpPr>
          <p:cNvPr name="TextBox 4" id="4"/>
          <p:cNvSpPr txBox="true"/>
          <p:nvPr/>
        </p:nvSpPr>
        <p:spPr>
          <a:xfrm rot="0">
            <a:off x="347778" y="2231253"/>
            <a:ext cx="17592445" cy="957720"/>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Analizzando le tre CWE corrispondenti al maggior numero di CVE individuate ogni anno è possibile notare come alcune debolezze, come Out of Bounds o attacchi XSS, persistano nel tempo causando danni gravi.</a:t>
            </a:r>
          </a:p>
        </p:txBody>
      </p:sp>
      <p:sp>
        <p:nvSpPr>
          <p:cNvPr name="TextBox 5" id="5"/>
          <p:cNvSpPr txBox="true"/>
          <p:nvPr/>
        </p:nvSpPr>
        <p:spPr>
          <a:xfrm rot="0">
            <a:off x="1752268" y="526233"/>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top 3 cwe critiche annuali</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144835" y="-547517"/>
            <a:ext cx="9030960" cy="11146926"/>
            <a:chOff x="0" y="0"/>
            <a:chExt cx="2378524" cy="2935816"/>
          </a:xfrm>
        </p:grpSpPr>
        <p:sp>
          <p:nvSpPr>
            <p:cNvPr name="Freeform 4" id="4"/>
            <p:cNvSpPr/>
            <p:nvPr/>
          </p:nvSpPr>
          <p:spPr>
            <a:xfrm flipH="false" flipV="false" rot="0">
              <a:off x="0" y="0"/>
              <a:ext cx="2378524" cy="2935816"/>
            </a:xfrm>
            <a:custGeom>
              <a:avLst/>
              <a:gdLst/>
              <a:ahLst/>
              <a:cxnLst/>
              <a:rect r="r" b="b" t="t" l="l"/>
              <a:pathLst>
                <a:path h="2935816" w="2378524">
                  <a:moveTo>
                    <a:pt x="0" y="0"/>
                  </a:moveTo>
                  <a:lnTo>
                    <a:pt x="2378524" y="0"/>
                  </a:lnTo>
                  <a:lnTo>
                    <a:pt x="2378524" y="2935816"/>
                  </a:lnTo>
                  <a:lnTo>
                    <a:pt x="0" y="2935816"/>
                  </a:lnTo>
                  <a:close/>
                </a:path>
              </a:pathLst>
            </a:custGeom>
            <a:gradFill rotWithShape="true">
              <a:gsLst>
                <a:gs pos="0">
                  <a:srgbClr val="071121">
                    <a:alpha val="100000"/>
                  </a:srgbClr>
                </a:gs>
                <a:gs pos="50000">
                  <a:srgbClr val="060F1F">
                    <a:alpha val="78500"/>
                  </a:srgbClr>
                </a:gs>
                <a:gs pos="100000">
                  <a:srgbClr val="060F1F">
                    <a:alpha val="0"/>
                  </a:srgbClr>
                </a:gs>
              </a:gsLst>
              <a:lin ang="0"/>
            </a:gradFill>
          </p:spPr>
        </p:sp>
        <p:sp>
          <p:nvSpPr>
            <p:cNvPr name="TextBox 5" id="5"/>
            <p:cNvSpPr txBox="true"/>
            <p:nvPr/>
          </p:nvSpPr>
          <p:spPr>
            <a:xfrm>
              <a:off x="0" y="0"/>
              <a:ext cx="2378524" cy="2935816"/>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2092719" y="3995095"/>
            <a:ext cx="14371257" cy="2061703"/>
            <a:chOff x="0" y="0"/>
            <a:chExt cx="3785022" cy="543000"/>
          </a:xfrm>
        </p:grpSpPr>
        <p:sp>
          <p:nvSpPr>
            <p:cNvPr name="Freeform 7" id="7"/>
            <p:cNvSpPr/>
            <p:nvPr/>
          </p:nvSpPr>
          <p:spPr>
            <a:xfrm flipH="false" flipV="false" rot="0">
              <a:off x="0" y="0"/>
              <a:ext cx="3785022" cy="543000"/>
            </a:xfrm>
            <a:custGeom>
              <a:avLst/>
              <a:gdLst/>
              <a:ahLst/>
              <a:cxnLst/>
              <a:rect r="r" b="b" t="t" l="l"/>
              <a:pathLst>
                <a:path h="543000" w="3785022">
                  <a:moveTo>
                    <a:pt x="0" y="0"/>
                  </a:moveTo>
                  <a:lnTo>
                    <a:pt x="3785022" y="0"/>
                  </a:lnTo>
                  <a:lnTo>
                    <a:pt x="3785022" y="543000"/>
                  </a:lnTo>
                  <a:lnTo>
                    <a:pt x="0" y="543000"/>
                  </a:lnTo>
                  <a:close/>
                </a:path>
              </a:pathLst>
            </a:custGeom>
            <a:solidFill>
              <a:srgbClr val="000000">
                <a:alpha val="0"/>
              </a:srgbClr>
            </a:solidFill>
            <a:ln w="19050" cap="sq">
              <a:gradFill>
                <a:gsLst>
                  <a:gs pos="0">
                    <a:srgbClr val="FFFFFF">
                      <a:alpha val="100000"/>
                    </a:srgbClr>
                  </a:gs>
                  <a:gs pos="100000">
                    <a:srgbClr val="FFC1C1">
                      <a:alpha val="2500"/>
                    </a:srgbClr>
                  </a:gs>
                </a:gsLst>
                <a:lin ang="0"/>
              </a:gradFill>
              <a:prstDash val="solid"/>
              <a:miter/>
            </a:ln>
          </p:spPr>
        </p:sp>
        <p:sp>
          <p:nvSpPr>
            <p:cNvPr name="TextBox 8" id="8"/>
            <p:cNvSpPr txBox="true"/>
            <p:nvPr/>
          </p:nvSpPr>
          <p:spPr>
            <a:xfrm>
              <a:off x="0" y="0"/>
              <a:ext cx="3785022" cy="543000"/>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2092719" y="3976336"/>
            <a:ext cx="14371257" cy="2080462"/>
          </a:xfrm>
          <a:prstGeom prst="rect">
            <a:avLst/>
          </a:prstGeom>
        </p:spPr>
        <p:txBody>
          <a:bodyPr anchor="t" rtlCol="false" tIns="0" lIns="0" bIns="0" rIns="0">
            <a:spAutoFit/>
          </a:bodyPr>
          <a:lstStyle/>
          <a:p>
            <a:pPr algn="ctr">
              <a:lnSpc>
                <a:spcPts val="8137"/>
              </a:lnSpc>
              <a:spcBef>
                <a:spcPct val="0"/>
              </a:spcBef>
            </a:pPr>
            <a:r>
              <a:rPr lang="en-US" sz="7534" spc="949">
                <a:solidFill>
                  <a:srgbClr val="FFFFFF"/>
                </a:solidFill>
                <a:latin typeface="HK Modular"/>
                <a:ea typeface="HK Modular"/>
                <a:cs typeface="HK Modular"/>
                <a:sym typeface="HK Modular"/>
              </a:rPr>
              <a:t>Cyber Threat Landscape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620782" y="4259504"/>
            <a:ext cx="20465418" cy="3308794"/>
            <a:chOff x="0" y="0"/>
            <a:chExt cx="5390069" cy="871452"/>
          </a:xfrm>
        </p:grpSpPr>
        <p:sp>
          <p:nvSpPr>
            <p:cNvPr name="Freeform 4" id="4"/>
            <p:cNvSpPr/>
            <p:nvPr/>
          </p:nvSpPr>
          <p:spPr>
            <a:xfrm flipH="false" flipV="false" rot="0">
              <a:off x="0" y="0"/>
              <a:ext cx="5390069" cy="871452"/>
            </a:xfrm>
            <a:custGeom>
              <a:avLst/>
              <a:gdLst/>
              <a:ahLst/>
              <a:cxnLst/>
              <a:rect r="r" b="b" t="t" l="l"/>
              <a:pathLst>
                <a:path h="871452" w="5390069">
                  <a:moveTo>
                    <a:pt x="0" y="0"/>
                  </a:moveTo>
                  <a:lnTo>
                    <a:pt x="5390069" y="0"/>
                  </a:lnTo>
                  <a:lnTo>
                    <a:pt x="5390069" y="871452"/>
                  </a:lnTo>
                  <a:lnTo>
                    <a:pt x="0" y="871452"/>
                  </a:lnTo>
                  <a:close/>
                </a:path>
              </a:pathLst>
            </a:custGeom>
            <a:gradFill rotWithShape="true">
              <a:gsLst>
                <a:gs pos="0">
                  <a:srgbClr val="071121">
                    <a:alpha val="31000"/>
                  </a:srgbClr>
                </a:gs>
                <a:gs pos="50000">
                  <a:srgbClr val="4F5661">
                    <a:alpha val="24335"/>
                  </a:srgbClr>
                </a:gs>
                <a:gs pos="100000">
                  <a:srgbClr val="060F1F">
                    <a:alpha val="0"/>
                  </a:srgbClr>
                </a:gs>
              </a:gsLst>
              <a:lin ang="0"/>
            </a:gradFill>
          </p:spPr>
        </p:sp>
        <p:sp>
          <p:nvSpPr>
            <p:cNvPr name="TextBox 5" id="5"/>
            <p:cNvSpPr txBox="true"/>
            <p:nvPr/>
          </p:nvSpPr>
          <p:spPr>
            <a:xfrm>
              <a:off x="0" y="0"/>
              <a:ext cx="5390069" cy="871452"/>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1028700" y="5058375"/>
            <a:ext cx="392527" cy="392527"/>
            <a:chOff x="0" y="0"/>
            <a:chExt cx="103382" cy="103382"/>
          </a:xfrm>
        </p:grpSpPr>
        <p:sp>
          <p:nvSpPr>
            <p:cNvPr name="Freeform 7" id="7"/>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8" id="8"/>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694376" y="607638"/>
            <a:ext cx="16899248" cy="2582350"/>
          </a:xfrm>
          <a:prstGeom prst="rect">
            <a:avLst/>
          </a:prstGeom>
        </p:spPr>
        <p:txBody>
          <a:bodyPr anchor="t" rtlCol="false" tIns="0" lIns="0" bIns="0" rIns="0">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Le Tre Dimensioni Fondamentali della Cybersecurity</a:t>
            </a:r>
          </a:p>
        </p:txBody>
      </p:sp>
      <p:sp>
        <p:nvSpPr>
          <p:cNvPr name="TextBox 10" id="10"/>
          <p:cNvSpPr txBox="true"/>
          <p:nvPr/>
        </p:nvSpPr>
        <p:spPr>
          <a:xfrm rot="0">
            <a:off x="1655971" y="5086950"/>
            <a:ext cx="3381292"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Cybersecurity Threat</a:t>
            </a:r>
          </a:p>
        </p:txBody>
      </p:sp>
      <p:sp>
        <p:nvSpPr>
          <p:cNvPr name="TextBox 11" id="11"/>
          <p:cNvSpPr txBox="true"/>
          <p:nvPr/>
        </p:nvSpPr>
        <p:spPr>
          <a:xfrm rot="0">
            <a:off x="1655971" y="5809773"/>
            <a:ext cx="4923524" cy="959872"/>
          </a:xfrm>
          <a:prstGeom prst="rect">
            <a:avLst/>
          </a:prstGeom>
        </p:spPr>
        <p:txBody>
          <a:bodyPr anchor="t" rtlCol="false" tIns="0" lIns="0" bIns="0" rIns="0">
            <a:spAutoFit/>
          </a:bodyPr>
          <a:lstStyle/>
          <a:p>
            <a:pPr algn="l">
              <a:lnSpc>
                <a:spcPts val="2554"/>
              </a:lnSpc>
            </a:pPr>
            <a:r>
              <a:rPr lang="en-US" sz="1864">
                <a:solidFill>
                  <a:srgbClr val="FFFFFF"/>
                </a:solidFill>
                <a:latin typeface="Etna Sans Serif"/>
                <a:ea typeface="Etna Sans Serif"/>
                <a:cs typeface="Etna Sans Serif"/>
                <a:sym typeface="Etna Sans Serif"/>
              </a:rPr>
              <a:t>Qualsiasi potenziale evento o azione malevola che può compromettere la riservatezza, l’integrità o la disponibilità di dati e sistemi.</a:t>
            </a:r>
          </a:p>
        </p:txBody>
      </p:sp>
      <p:grpSp>
        <p:nvGrpSpPr>
          <p:cNvPr name="Group 12" id="12"/>
          <p:cNvGrpSpPr/>
          <p:nvPr/>
        </p:nvGrpSpPr>
        <p:grpSpPr>
          <a:xfrm rot="0">
            <a:off x="6817619" y="5058375"/>
            <a:ext cx="392527" cy="392527"/>
            <a:chOff x="0" y="0"/>
            <a:chExt cx="103382" cy="103382"/>
          </a:xfrm>
        </p:grpSpPr>
        <p:sp>
          <p:nvSpPr>
            <p:cNvPr name="Freeform 13" id="13"/>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14" id="14"/>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15" id="15"/>
          <p:cNvSpPr txBox="true"/>
          <p:nvPr/>
        </p:nvSpPr>
        <p:spPr>
          <a:xfrm rot="0">
            <a:off x="7444890" y="5108054"/>
            <a:ext cx="2951337"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Cyber Impact</a:t>
            </a:r>
          </a:p>
        </p:txBody>
      </p:sp>
      <p:sp>
        <p:nvSpPr>
          <p:cNvPr name="TextBox 16" id="16"/>
          <p:cNvSpPr txBox="true"/>
          <p:nvPr/>
        </p:nvSpPr>
        <p:spPr>
          <a:xfrm rot="0">
            <a:off x="7444890" y="5809773"/>
            <a:ext cx="4590117" cy="959872"/>
          </a:xfrm>
          <a:prstGeom prst="rect">
            <a:avLst/>
          </a:prstGeom>
        </p:spPr>
        <p:txBody>
          <a:bodyPr anchor="t" rtlCol="false" tIns="0" lIns="0" bIns="0" rIns="0">
            <a:spAutoFit/>
          </a:bodyPr>
          <a:lstStyle/>
          <a:p>
            <a:pPr algn="l">
              <a:lnSpc>
                <a:spcPts val="2554"/>
              </a:lnSpc>
            </a:pPr>
            <a:r>
              <a:rPr lang="en-US" sz="1864">
                <a:solidFill>
                  <a:srgbClr val="FFFFFF"/>
                </a:solidFill>
                <a:latin typeface="Etna Sans Serif"/>
                <a:ea typeface="Etna Sans Serif"/>
                <a:cs typeface="Etna Sans Serif"/>
                <a:sym typeface="Etna Sans Serif"/>
              </a:rPr>
              <a:t>La conseguenza concreta di una minaccia realizzata, misurabile in danni economici, reputazionali o operativi.</a:t>
            </a:r>
          </a:p>
        </p:txBody>
      </p:sp>
      <p:grpSp>
        <p:nvGrpSpPr>
          <p:cNvPr name="Group 17" id="17"/>
          <p:cNvGrpSpPr/>
          <p:nvPr/>
        </p:nvGrpSpPr>
        <p:grpSpPr>
          <a:xfrm rot="0">
            <a:off x="12427356" y="5079479"/>
            <a:ext cx="392527" cy="392527"/>
            <a:chOff x="0" y="0"/>
            <a:chExt cx="103382" cy="103382"/>
          </a:xfrm>
        </p:grpSpPr>
        <p:sp>
          <p:nvSpPr>
            <p:cNvPr name="Freeform 18" id="18"/>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19" id="19"/>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20" id="20"/>
          <p:cNvSpPr txBox="true"/>
          <p:nvPr/>
        </p:nvSpPr>
        <p:spPr>
          <a:xfrm rot="0">
            <a:off x="13054626" y="5129159"/>
            <a:ext cx="3872379"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Threat Intelligence</a:t>
            </a:r>
          </a:p>
        </p:txBody>
      </p:sp>
      <p:sp>
        <p:nvSpPr>
          <p:cNvPr name="TextBox 21" id="21"/>
          <p:cNvSpPr txBox="true"/>
          <p:nvPr/>
        </p:nvSpPr>
        <p:spPr>
          <a:xfrm rot="0">
            <a:off x="13054626" y="5830877"/>
            <a:ext cx="4590117" cy="959872"/>
          </a:xfrm>
          <a:prstGeom prst="rect">
            <a:avLst/>
          </a:prstGeom>
        </p:spPr>
        <p:txBody>
          <a:bodyPr anchor="t" rtlCol="false" tIns="0" lIns="0" bIns="0" rIns="0">
            <a:spAutoFit/>
          </a:bodyPr>
          <a:lstStyle/>
          <a:p>
            <a:pPr algn="l">
              <a:lnSpc>
                <a:spcPts val="2554"/>
              </a:lnSpc>
            </a:pPr>
            <a:r>
              <a:rPr lang="en-US" sz="1864">
                <a:solidFill>
                  <a:srgbClr val="FFFFFF"/>
                </a:solidFill>
                <a:latin typeface="Etna Sans Serif"/>
                <a:ea typeface="Etna Sans Serif"/>
                <a:cs typeface="Etna Sans Serif"/>
                <a:sym typeface="Etna Sans Serif"/>
              </a:rPr>
              <a:t>Il processo di raccolta, analisi e interpretazione di dati sulle minacce per anticipare e mitigare i rischi.</a:t>
            </a:r>
          </a:p>
        </p:txBody>
      </p:sp>
      <p:sp>
        <p:nvSpPr>
          <p:cNvPr name="TextBox 22" id="22"/>
          <p:cNvSpPr txBox="true"/>
          <p:nvPr/>
        </p:nvSpPr>
        <p:spPr>
          <a:xfrm rot="0">
            <a:off x="1028700" y="3599563"/>
            <a:ext cx="15898306" cy="341376"/>
          </a:xfrm>
          <a:prstGeom prst="rect">
            <a:avLst/>
          </a:prstGeom>
        </p:spPr>
        <p:txBody>
          <a:bodyPr anchor="t" rtlCol="false" tIns="0" lIns="0" bIns="0" rIns="0">
            <a:spAutoFit/>
          </a:bodyPr>
          <a:lstStyle/>
          <a:p>
            <a:pPr algn="ctr">
              <a:lnSpc>
                <a:spcPts val="2592"/>
              </a:lnSpc>
              <a:spcBef>
                <a:spcPct val="0"/>
              </a:spcBef>
            </a:pPr>
            <a:r>
              <a:rPr lang="en-US" sz="2400" spc="302">
                <a:solidFill>
                  <a:srgbClr val="FFFFFF"/>
                </a:solidFill>
                <a:latin typeface="HK Modular"/>
                <a:ea typeface="HK Modular"/>
                <a:cs typeface="HK Modular"/>
                <a:sym typeface="HK Modular"/>
              </a:rPr>
              <a:t>TRE PROSPETTIVE PER COMPRENDERE IL RISCHIO CYBER</a:t>
            </a:r>
          </a:p>
        </p:txBody>
      </p:sp>
      <p:sp>
        <p:nvSpPr>
          <p:cNvPr name="TextBox 23" id="23"/>
          <p:cNvSpPr txBox="true"/>
          <p:nvPr/>
        </p:nvSpPr>
        <p:spPr>
          <a:xfrm rot="0">
            <a:off x="0" y="8190765"/>
            <a:ext cx="17955706" cy="905510"/>
          </a:xfrm>
          <a:prstGeom prst="rect">
            <a:avLst/>
          </a:prstGeom>
        </p:spPr>
        <p:txBody>
          <a:bodyPr anchor="t" rtlCol="false" tIns="0" lIns="0" bIns="0" rIns="0">
            <a:spAutoFit/>
          </a:bodyPr>
          <a:lstStyle/>
          <a:p>
            <a:pPr algn="ctr">
              <a:lnSpc>
                <a:spcPts val="3640"/>
              </a:lnSpc>
            </a:pPr>
            <a:r>
              <a:rPr lang="en-US" sz="2600" i="true">
                <a:solidFill>
                  <a:srgbClr val="FFFFFF"/>
                </a:solidFill>
                <a:latin typeface="Canva Sans Italics"/>
                <a:ea typeface="Canva Sans Italics"/>
                <a:cs typeface="Canva Sans Italics"/>
                <a:sym typeface="Canva Sans Italics"/>
              </a:rPr>
              <a:t>Comp</a:t>
            </a:r>
            <a:r>
              <a:rPr lang="en-US" sz="2600" i="true">
                <a:solidFill>
                  <a:srgbClr val="FFFFFF"/>
                </a:solidFill>
                <a:latin typeface="Canva Sans Italics"/>
                <a:ea typeface="Canva Sans Italics"/>
                <a:cs typeface="Canva Sans Italics"/>
                <a:sym typeface="Canva Sans Italics"/>
              </a:rPr>
              <a:t>rendere le minacce, valutarne l’impatto e anticiparle con l’intelligence è il primo passo per una cybersecurity efficace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50B18"/>
        </a:solidFill>
      </p:bgPr>
    </p:bg>
    <p:spTree>
      <p:nvGrpSpPr>
        <p:cNvPr id="1" name=""/>
        <p:cNvGrpSpPr/>
        <p:nvPr/>
      </p:nvGrpSpPr>
      <p:grpSpPr>
        <a:xfrm>
          <a:off x="0" y="0"/>
          <a:ext cx="0" cy="0"/>
          <a:chOff x="0" y="0"/>
          <a:chExt cx="0" cy="0"/>
        </a:xfrm>
      </p:grpSpPr>
      <p:sp>
        <p:nvSpPr>
          <p:cNvPr name="Freeform 2" id="2"/>
          <p:cNvSpPr/>
          <p:nvPr/>
        </p:nvSpPr>
        <p:spPr>
          <a:xfrm flipH="false" flipV="false" rot="0">
            <a:off x="401294" y="4295879"/>
            <a:ext cx="17485412" cy="5398621"/>
          </a:xfrm>
          <a:custGeom>
            <a:avLst/>
            <a:gdLst/>
            <a:ahLst/>
            <a:cxnLst/>
            <a:rect r="r" b="b" t="t" l="l"/>
            <a:pathLst>
              <a:path h="5398621" w="17485412">
                <a:moveTo>
                  <a:pt x="0" y="0"/>
                </a:moveTo>
                <a:lnTo>
                  <a:pt x="17485412" y="0"/>
                </a:lnTo>
                <a:lnTo>
                  <a:pt x="17485412" y="5398621"/>
                </a:lnTo>
                <a:lnTo>
                  <a:pt x="0" y="5398621"/>
                </a:lnTo>
                <a:lnTo>
                  <a:pt x="0" y="0"/>
                </a:lnTo>
                <a:close/>
              </a:path>
            </a:pathLst>
          </a:custGeom>
          <a:blipFill>
            <a:blip r:embed="rId2"/>
            <a:stretch>
              <a:fillRect l="0" t="0" r="0" b="0"/>
            </a:stretch>
          </a:blipFill>
        </p:spPr>
      </p:sp>
      <p:sp>
        <p:nvSpPr>
          <p:cNvPr name="TextBox 3" id="3"/>
          <p:cNvSpPr txBox="true"/>
          <p:nvPr/>
        </p:nvSpPr>
        <p:spPr>
          <a:xfrm rot="0">
            <a:off x="347778" y="2415936"/>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Gli attacchi informatici colpiscono settori diversi, ma alcuni ambiti risultano più esposti di altri. IT, Banking e Healthcare affrontano una pressione costante, mentre settori come Government, Retail ed Education mostrano andamenti più instabili, ma non meno rilevanti. </a:t>
            </a:r>
          </a:p>
        </p:txBody>
      </p:sp>
      <p:sp>
        <p:nvSpPr>
          <p:cNvPr name="TextBox 4" id="4"/>
          <p:cNvSpPr txBox="true"/>
          <p:nvPr/>
        </p:nvSpPr>
        <p:spPr>
          <a:xfrm rot="0">
            <a:off x="1752268" y="526233"/>
            <a:ext cx="15958032" cy="88586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Attacchi per settore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50B18"/>
        </a:solidFill>
      </p:bgPr>
    </p:bg>
    <p:spTree>
      <p:nvGrpSpPr>
        <p:cNvPr id="1" name=""/>
        <p:cNvGrpSpPr/>
        <p:nvPr/>
      </p:nvGrpSpPr>
      <p:grpSpPr>
        <a:xfrm>
          <a:off x="0" y="0"/>
          <a:ext cx="0" cy="0"/>
          <a:chOff x="0" y="0"/>
          <a:chExt cx="0" cy="0"/>
        </a:xfrm>
      </p:grpSpPr>
      <p:sp>
        <p:nvSpPr>
          <p:cNvPr name="Freeform 2" id="2"/>
          <p:cNvSpPr/>
          <p:nvPr/>
        </p:nvSpPr>
        <p:spPr>
          <a:xfrm flipH="false" flipV="false" rot="0">
            <a:off x="1498511" y="1583931"/>
            <a:ext cx="15290979" cy="8486493"/>
          </a:xfrm>
          <a:custGeom>
            <a:avLst/>
            <a:gdLst/>
            <a:ahLst/>
            <a:cxnLst/>
            <a:rect r="r" b="b" t="t" l="l"/>
            <a:pathLst>
              <a:path h="8486493" w="15290979">
                <a:moveTo>
                  <a:pt x="0" y="0"/>
                </a:moveTo>
                <a:lnTo>
                  <a:pt x="15290978" y="0"/>
                </a:lnTo>
                <a:lnTo>
                  <a:pt x="15290978" y="8486493"/>
                </a:lnTo>
                <a:lnTo>
                  <a:pt x="0" y="8486493"/>
                </a:lnTo>
                <a:lnTo>
                  <a:pt x="0" y="0"/>
                </a:lnTo>
                <a:close/>
              </a:path>
            </a:pathLst>
          </a:custGeom>
          <a:blipFill>
            <a:blip r:embed="rId2"/>
            <a:stretch>
              <a:fillRect l="0" t="0" r="0" b="0"/>
            </a:stretch>
          </a:blipFill>
        </p:spPr>
      </p:sp>
      <p:sp>
        <p:nvSpPr>
          <p:cNvPr name="TextBox 3" id="3"/>
          <p:cNvSpPr txBox="true"/>
          <p:nvPr/>
        </p:nvSpPr>
        <p:spPr>
          <a:xfrm rot="0">
            <a:off x="1752268" y="526233"/>
            <a:ext cx="15958032" cy="88586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tecniche di attacco</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50B18"/>
        </a:solidFill>
      </p:bgPr>
    </p:bg>
    <p:spTree>
      <p:nvGrpSpPr>
        <p:cNvPr id="1" name=""/>
        <p:cNvGrpSpPr/>
        <p:nvPr/>
      </p:nvGrpSpPr>
      <p:grpSpPr>
        <a:xfrm>
          <a:off x="0" y="0"/>
          <a:ext cx="0" cy="0"/>
          <a:chOff x="0" y="0"/>
          <a:chExt cx="0" cy="0"/>
        </a:xfrm>
      </p:grpSpPr>
      <p:sp>
        <p:nvSpPr>
          <p:cNvPr name="Freeform 2" id="2"/>
          <p:cNvSpPr/>
          <p:nvPr/>
        </p:nvSpPr>
        <p:spPr>
          <a:xfrm flipH="false" flipV="false" rot="0">
            <a:off x="545510" y="4650536"/>
            <a:ext cx="17196980" cy="5309568"/>
          </a:xfrm>
          <a:custGeom>
            <a:avLst/>
            <a:gdLst/>
            <a:ahLst/>
            <a:cxnLst/>
            <a:rect r="r" b="b" t="t" l="l"/>
            <a:pathLst>
              <a:path h="5309568" w="17196980">
                <a:moveTo>
                  <a:pt x="0" y="0"/>
                </a:moveTo>
                <a:lnTo>
                  <a:pt x="17196980" y="0"/>
                </a:lnTo>
                <a:lnTo>
                  <a:pt x="17196980" y="5309568"/>
                </a:lnTo>
                <a:lnTo>
                  <a:pt x="0" y="5309568"/>
                </a:lnTo>
                <a:lnTo>
                  <a:pt x="0" y="0"/>
                </a:lnTo>
                <a:close/>
              </a:path>
            </a:pathLst>
          </a:custGeom>
          <a:blipFill>
            <a:blip r:embed="rId2"/>
            <a:stretch>
              <a:fillRect l="0" t="0" r="0" b="0"/>
            </a:stretch>
          </a:blipFill>
        </p:spPr>
      </p:sp>
      <p:sp>
        <p:nvSpPr>
          <p:cNvPr name="TextBox 3" id="3"/>
          <p:cNvSpPr txBox="true"/>
          <p:nvPr/>
        </p:nvSpPr>
        <p:spPr>
          <a:xfrm rot="0">
            <a:off x="347778" y="2539235"/>
            <a:ext cx="17592445" cy="1929270"/>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Le tecniche di attacco evolvono nel tempo, ma alcune minacce si dimostrano più persistenti. Il phishing si conferma come una delle strategie più diffuse, seguita da malware e tecniche più complesse come ransomware e SQL injection. Da questi dati emerge che gli attaccanti mirano spesso all’inesperienza delle persone per aggirare le misure di sicurezza prese dagli esperti.</a:t>
            </a:r>
          </a:p>
        </p:txBody>
      </p:sp>
      <p:sp>
        <p:nvSpPr>
          <p:cNvPr name="TextBox 4" id="4"/>
          <p:cNvSpPr txBox="true"/>
          <p:nvPr/>
        </p:nvSpPr>
        <p:spPr>
          <a:xfrm rot="0">
            <a:off x="1752268" y="526233"/>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evoluzione delle tecniche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587652" y="4482570"/>
            <a:ext cx="17385265" cy="5489548"/>
            <a:chOff x="0" y="0"/>
            <a:chExt cx="23180353" cy="7319398"/>
          </a:xfrm>
        </p:grpSpPr>
        <p:sp>
          <p:nvSpPr>
            <p:cNvPr name="Freeform 4" id="4"/>
            <p:cNvSpPr/>
            <p:nvPr/>
          </p:nvSpPr>
          <p:spPr>
            <a:xfrm flipH="false" flipV="false" rot="0">
              <a:off x="0" y="1355781"/>
              <a:ext cx="5561955" cy="5480162"/>
            </a:xfrm>
            <a:custGeom>
              <a:avLst/>
              <a:gdLst/>
              <a:ahLst/>
              <a:cxnLst/>
              <a:rect r="r" b="b" t="t" l="l"/>
              <a:pathLst>
                <a:path h="5480162" w="5561955">
                  <a:moveTo>
                    <a:pt x="0" y="0"/>
                  </a:moveTo>
                  <a:lnTo>
                    <a:pt x="5561955" y="0"/>
                  </a:lnTo>
                  <a:lnTo>
                    <a:pt x="5561955" y="5480162"/>
                  </a:lnTo>
                  <a:lnTo>
                    <a:pt x="0" y="5480162"/>
                  </a:lnTo>
                  <a:lnTo>
                    <a:pt x="0" y="0"/>
                  </a:lnTo>
                  <a:close/>
                </a:path>
              </a:pathLst>
            </a:custGeom>
            <a:blipFill>
              <a:blip r:embed="rId3"/>
              <a:stretch>
                <a:fillRect l="0" t="0" r="0" b="0"/>
              </a:stretch>
            </a:blipFill>
          </p:spPr>
        </p:sp>
        <p:sp>
          <p:nvSpPr>
            <p:cNvPr name="Freeform 5" id="5"/>
            <p:cNvSpPr/>
            <p:nvPr/>
          </p:nvSpPr>
          <p:spPr>
            <a:xfrm flipH="false" flipV="false" rot="0">
              <a:off x="14463442" y="1355781"/>
              <a:ext cx="5512685" cy="5480162"/>
            </a:xfrm>
            <a:custGeom>
              <a:avLst/>
              <a:gdLst/>
              <a:ahLst/>
              <a:cxnLst/>
              <a:rect r="r" b="b" t="t" l="l"/>
              <a:pathLst>
                <a:path h="5480162" w="5512685">
                  <a:moveTo>
                    <a:pt x="0" y="0"/>
                  </a:moveTo>
                  <a:lnTo>
                    <a:pt x="5512685" y="0"/>
                  </a:lnTo>
                  <a:lnTo>
                    <a:pt x="5512685" y="5480162"/>
                  </a:lnTo>
                  <a:lnTo>
                    <a:pt x="0" y="5480162"/>
                  </a:lnTo>
                  <a:lnTo>
                    <a:pt x="0" y="0"/>
                  </a:lnTo>
                  <a:close/>
                </a:path>
              </a:pathLst>
            </a:custGeom>
            <a:blipFill>
              <a:blip r:embed="rId4"/>
              <a:stretch>
                <a:fillRect l="0" t="0" r="0" b="0"/>
              </a:stretch>
            </a:blipFill>
          </p:spPr>
        </p:sp>
        <p:sp>
          <p:nvSpPr>
            <p:cNvPr name="Freeform 6" id="6"/>
            <p:cNvSpPr/>
            <p:nvPr/>
          </p:nvSpPr>
          <p:spPr>
            <a:xfrm flipH="false" flipV="false" rot="0">
              <a:off x="7312795" y="1355781"/>
              <a:ext cx="5399808" cy="5480162"/>
            </a:xfrm>
            <a:custGeom>
              <a:avLst/>
              <a:gdLst/>
              <a:ahLst/>
              <a:cxnLst/>
              <a:rect r="r" b="b" t="t" l="l"/>
              <a:pathLst>
                <a:path h="5480162" w="5399808">
                  <a:moveTo>
                    <a:pt x="0" y="0"/>
                  </a:moveTo>
                  <a:lnTo>
                    <a:pt x="5399808" y="0"/>
                  </a:lnTo>
                  <a:lnTo>
                    <a:pt x="5399808" y="5480162"/>
                  </a:lnTo>
                  <a:lnTo>
                    <a:pt x="0" y="5480162"/>
                  </a:lnTo>
                  <a:lnTo>
                    <a:pt x="0" y="0"/>
                  </a:lnTo>
                  <a:close/>
                </a:path>
              </a:pathLst>
            </a:custGeom>
            <a:blipFill>
              <a:blip r:embed="rId5"/>
              <a:stretch>
                <a:fillRect l="0" t="0" r="0" b="0"/>
              </a:stretch>
            </a:blipFill>
          </p:spPr>
        </p:sp>
        <p:sp>
          <p:nvSpPr>
            <p:cNvPr name="Freeform 7" id="7"/>
            <p:cNvSpPr/>
            <p:nvPr/>
          </p:nvSpPr>
          <p:spPr>
            <a:xfrm flipH="false" flipV="false" rot="0">
              <a:off x="20584954" y="0"/>
              <a:ext cx="2595399" cy="7319398"/>
            </a:xfrm>
            <a:custGeom>
              <a:avLst/>
              <a:gdLst/>
              <a:ahLst/>
              <a:cxnLst/>
              <a:rect r="r" b="b" t="t" l="l"/>
              <a:pathLst>
                <a:path h="7319398" w="2595399">
                  <a:moveTo>
                    <a:pt x="0" y="0"/>
                  </a:moveTo>
                  <a:lnTo>
                    <a:pt x="2595399" y="0"/>
                  </a:lnTo>
                  <a:lnTo>
                    <a:pt x="2595399" y="7319398"/>
                  </a:lnTo>
                  <a:lnTo>
                    <a:pt x="0" y="7319398"/>
                  </a:lnTo>
                  <a:lnTo>
                    <a:pt x="0" y="0"/>
                  </a:lnTo>
                  <a:close/>
                </a:path>
              </a:pathLst>
            </a:custGeom>
            <a:blipFill>
              <a:blip r:embed="rId6"/>
              <a:stretch>
                <a:fillRect l="0" t="0" r="0" b="0"/>
              </a:stretch>
            </a:blipFill>
          </p:spPr>
        </p:sp>
      </p:grpSp>
      <p:sp>
        <p:nvSpPr>
          <p:cNvPr name="TextBox 8" id="8"/>
          <p:cNvSpPr txBox="true"/>
          <p:nvPr/>
        </p:nvSpPr>
        <p:spPr>
          <a:xfrm rot="0">
            <a:off x="380472" y="2826647"/>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Analizzando globalmente i danni economici provocati da attacchi e data brach, emerge che le perdite maggiori si registrano in UK, Russia e USA, con danni superiori ai $14 miliardi. L’effetto economico della cybercriminalità è distribuito globalmente, ma colpisce più duramente le economie digitalizzate.</a:t>
            </a:r>
          </a:p>
        </p:txBody>
      </p:sp>
      <p:sp>
        <p:nvSpPr>
          <p:cNvPr name="TextBox 9" id="9"/>
          <p:cNvSpPr txBox="true"/>
          <p:nvPr/>
        </p:nvSpPr>
        <p:spPr>
          <a:xfrm rot="0">
            <a:off x="1752268" y="526233"/>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perdite economiche a livello globale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144835" y="-547517"/>
            <a:ext cx="9030960" cy="11146926"/>
            <a:chOff x="0" y="0"/>
            <a:chExt cx="2378524" cy="2935816"/>
          </a:xfrm>
        </p:grpSpPr>
        <p:sp>
          <p:nvSpPr>
            <p:cNvPr name="Freeform 4" id="4"/>
            <p:cNvSpPr/>
            <p:nvPr/>
          </p:nvSpPr>
          <p:spPr>
            <a:xfrm flipH="false" flipV="false" rot="0">
              <a:off x="0" y="0"/>
              <a:ext cx="2378524" cy="2935816"/>
            </a:xfrm>
            <a:custGeom>
              <a:avLst/>
              <a:gdLst/>
              <a:ahLst/>
              <a:cxnLst/>
              <a:rect r="r" b="b" t="t" l="l"/>
              <a:pathLst>
                <a:path h="2935816" w="2378524">
                  <a:moveTo>
                    <a:pt x="0" y="0"/>
                  </a:moveTo>
                  <a:lnTo>
                    <a:pt x="2378524" y="0"/>
                  </a:lnTo>
                  <a:lnTo>
                    <a:pt x="2378524" y="2935816"/>
                  </a:lnTo>
                  <a:lnTo>
                    <a:pt x="0" y="2935816"/>
                  </a:lnTo>
                  <a:close/>
                </a:path>
              </a:pathLst>
            </a:custGeom>
            <a:gradFill rotWithShape="true">
              <a:gsLst>
                <a:gs pos="0">
                  <a:srgbClr val="071121">
                    <a:alpha val="100000"/>
                  </a:srgbClr>
                </a:gs>
                <a:gs pos="50000">
                  <a:srgbClr val="060F1F">
                    <a:alpha val="78500"/>
                  </a:srgbClr>
                </a:gs>
                <a:gs pos="100000">
                  <a:srgbClr val="060F1F">
                    <a:alpha val="0"/>
                  </a:srgbClr>
                </a:gs>
              </a:gsLst>
              <a:lin ang="0"/>
            </a:gradFill>
          </p:spPr>
        </p:sp>
        <p:sp>
          <p:nvSpPr>
            <p:cNvPr name="TextBox 5" id="5"/>
            <p:cNvSpPr txBox="true"/>
            <p:nvPr/>
          </p:nvSpPr>
          <p:spPr>
            <a:xfrm>
              <a:off x="0" y="0"/>
              <a:ext cx="2378524" cy="2935816"/>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2092719" y="3995095"/>
            <a:ext cx="14371257" cy="2061703"/>
            <a:chOff x="0" y="0"/>
            <a:chExt cx="3785022" cy="543000"/>
          </a:xfrm>
        </p:grpSpPr>
        <p:sp>
          <p:nvSpPr>
            <p:cNvPr name="Freeform 7" id="7"/>
            <p:cNvSpPr/>
            <p:nvPr/>
          </p:nvSpPr>
          <p:spPr>
            <a:xfrm flipH="false" flipV="false" rot="0">
              <a:off x="0" y="0"/>
              <a:ext cx="3785022" cy="543000"/>
            </a:xfrm>
            <a:custGeom>
              <a:avLst/>
              <a:gdLst/>
              <a:ahLst/>
              <a:cxnLst/>
              <a:rect r="r" b="b" t="t" l="l"/>
              <a:pathLst>
                <a:path h="543000" w="3785022">
                  <a:moveTo>
                    <a:pt x="0" y="0"/>
                  </a:moveTo>
                  <a:lnTo>
                    <a:pt x="3785022" y="0"/>
                  </a:lnTo>
                  <a:lnTo>
                    <a:pt x="3785022" y="543000"/>
                  </a:lnTo>
                  <a:lnTo>
                    <a:pt x="0" y="543000"/>
                  </a:lnTo>
                  <a:close/>
                </a:path>
              </a:pathLst>
            </a:custGeom>
            <a:solidFill>
              <a:srgbClr val="000000">
                <a:alpha val="0"/>
              </a:srgbClr>
            </a:solidFill>
            <a:ln w="19050" cap="sq">
              <a:gradFill>
                <a:gsLst>
                  <a:gs pos="0">
                    <a:srgbClr val="FFFFFF">
                      <a:alpha val="100000"/>
                    </a:srgbClr>
                  </a:gs>
                  <a:gs pos="100000">
                    <a:srgbClr val="FFC1C1">
                      <a:alpha val="2500"/>
                    </a:srgbClr>
                  </a:gs>
                </a:gsLst>
                <a:lin ang="0"/>
              </a:gradFill>
              <a:prstDash val="solid"/>
              <a:miter/>
            </a:ln>
          </p:spPr>
        </p:sp>
        <p:sp>
          <p:nvSpPr>
            <p:cNvPr name="TextBox 8" id="8"/>
            <p:cNvSpPr txBox="true"/>
            <p:nvPr/>
          </p:nvSpPr>
          <p:spPr>
            <a:xfrm>
              <a:off x="0" y="0"/>
              <a:ext cx="3785022" cy="543000"/>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2351178" y="4028578"/>
            <a:ext cx="13585644" cy="2080462"/>
          </a:xfrm>
          <a:prstGeom prst="rect">
            <a:avLst/>
          </a:prstGeom>
        </p:spPr>
        <p:txBody>
          <a:bodyPr anchor="t" rtlCol="false" tIns="0" lIns="0" bIns="0" rIns="0">
            <a:spAutoFit/>
          </a:bodyPr>
          <a:lstStyle/>
          <a:p>
            <a:pPr algn="ctr">
              <a:lnSpc>
                <a:spcPts val="8137"/>
              </a:lnSpc>
              <a:spcBef>
                <a:spcPct val="0"/>
              </a:spcBef>
            </a:pPr>
            <a:r>
              <a:rPr lang="en-US" sz="7534" spc="949">
                <a:solidFill>
                  <a:srgbClr val="FFFFFF"/>
                </a:solidFill>
                <a:latin typeface="HK Modular"/>
                <a:ea typeface="HK Modular"/>
                <a:cs typeface="HK Modular"/>
                <a:sym typeface="HK Modular"/>
              </a:rPr>
              <a:t>Password E autenticazione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494657" y="4243739"/>
            <a:ext cx="20465418" cy="3943110"/>
            <a:chOff x="0" y="0"/>
            <a:chExt cx="5390069" cy="1038515"/>
          </a:xfrm>
        </p:grpSpPr>
        <p:sp>
          <p:nvSpPr>
            <p:cNvPr name="Freeform 4" id="4"/>
            <p:cNvSpPr/>
            <p:nvPr/>
          </p:nvSpPr>
          <p:spPr>
            <a:xfrm flipH="false" flipV="false" rot="0">
              <a:off x="0" y="0"/>
              <a:ext cx="5390069" cy="1038515"/>
            </a:xfrm>
            <a:custGeom>
              <a:avLst/>
              <a:gdLst/>
              <a:ahLst/>
              <a:cxnLst/>
              <a:rect r="r" b="b" t="t" l="l"/>
              <a:pathLst>
                <a:path h="1038515" w="5390069">
                  <a:moveTo>
                    <a:pt x="0" y="0"/>
                  </a:moveTo>
                  <a:lnTo>
                    <a:pt x="5390069" y="0"/>
                  </a:lnTo>
                  <a:lnTo>
                    <a:pt x="5390069" y="1038515"/>
                  </a:lnTo>
                  <a:lnTo>
                    <a:pt x="0" y="1038515"/>
                  </a:lnTo>
                  <a:close/>
                </a:path>
              </a:pathLst>
            </a:custGeom>
            <a:gradFill rotWithShape="true">
              <a:gsLst>
                <a:gs pos="0">
                  <a:srgbClr val="071121">
                    <a:alpha val="31000"/>
                  </a:srgbClr>
                </a:gs>
                <a:gs pos="50000">
                  <a:srgbClr val="4F5661">
                    <a:alpha val="24335"/>
                  </a:srgbClr>
                </a:gs>
                <a:gs pos="100000">
                  <a:srgbClr val="060F1F">
                    <a:alpha val="0"/>
                  </a:srgbClr>
                </a:gs>
              </a:gsLst>
              <a:lin ang="0"/>
            </a:gradFill>
          </p:spPr>
        </p:sp>
        <p:sp>
          <p:nvSpPr>
            <p:cNvPr name="TextBox 5" id="5"/>
            <p:cNvSpPr txBox="true"/>
            <p:nvPr/>
          </p:nvSpPr>
          <p:spPr>
            <a:xfrm>
              <a:off x="0" y="19050"/>
              <a:ext cx="5390069" cy="1019465"/>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1028700" y="5058375"/>
            <a:ext cx="392527" cy="392527"/>
            <a:chOff x="0" y="0"/>
            <a:chExt cx="103382" cy="103382"/>
          </a:xfrm>
        </p:grpSpPr>
        <p:sp>
          <p:nvSpPr>
            <p:cNvPr name="Freeform 7" id="7"/>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8" id="8"/>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3542756" y="1794973"/>
            <a:ext cx="11275121" cy="879863"/>
          </a:xfrm>
          <a:prstGeom prst="rect">
            <a:avLst/>
          </a:prstGeom>
        </p:spPr>
        <p:txBody>
          <a:bodyPr anchor="t" rtlCol="false" tIns="0" lIns="0" bIns="0" rIns="0">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autenticazione</a:t>
            </a:r>
          </a:p>
        </p:txBody>
      </p:sp>
      <p:sp>
        <p:nvSpPr>
          <p:cNvPr name="TextBox 10" id="10"/>
          <p:cNvSpPr txBox="true"/>
          <p:nvPr/>
        </p:nvSpPr>
        <p:spPr>
          <a:xfrm rot="0">
            <a:off x="1655971" y="5047782"/>
            <a:ext cx="3381292" cy="461338"/>
          </a:xfrm>
          <a:prstGeom prst="rect">
            <a:avLst/>
          </a:prstGeom>
        </p:spPr>
        <p:txBody>
          <a:bodyPr anchor="t" rtlCol="false" tIns="0" lIns="0" bIns="0" rIns="0">
            <a:spAutoFit/>
          </a:bodyPr>
          <a:lstStyle/>
          <a:p>
            <a:pPr algn="l">
              <a:lnSpc>
                <a:spcPts val="3668"/>
              </a:lnSpc>
              <a:spcBef>
                <a:spcPct val="0"/>
              </a:spcBef>
            </a:pPr>
            <a:r>
              <a:rPr lang="en-US" sz="3396">
                <a:solidFill>
                  <a:srgbClr val="FFFFFF"/>
                </a:solidFill>
                <a:latin typeface="Etna Sans Serif"/>
                <a:ea typeface="Etna Sans Serif"/>
                <a:cs typeface="Etna Sans Serif"/>
                <a:sym typeface="Etna Sans Serif"/>
              </a:rPr>
              <a:t>Possesso</a:t>
            </a:r>
          </a:p>
        </p:txBody>
      </p:sp>
      <p:sp>
        <p:nvSpPr>
          <p:cNvPr name="TextBox 11" id="11"/>
          <p:cNvSpPr txBox="true"/>
          <p:nvPr/>
        </p:nvSpPr>
        <p:spPr>
          <a:xfrm rot="0">
            <a:off x="1655971" y="5800248"/>
            <a:ext cx="4923524" cy="1557598"/>
          </a:xfrm>
          <a:prstGeom prst="rect">
            <a:avLst/>
          </a:prstGeom>
        </p:spPr>
        <p:txBody>
          <a:bodyPr anchor="t" rtlCol="false" tIns="0" lIns="0" bIns="0" rIns="0">
            <a:spAutoFit/>
          </a:bodyPr>
          <a:lstStyle/>
          <a:p>
            <a:pPr algn="l">
              <a:lnSpc>
                <a:spcPts val="3650"/>
              </a:lnSpc>
            </a:pPr>
            <a:r>
              <a:rPr lang="en-US" sz="2664">
                <a:solidFill>
                  <a:srgbClr val="FFFFFF"/>
                </a:solidFill>
                <a:latin typeface="Etna Sans Serif"/>
                <a:ea typeface="Etna Sans Serif"/>
                <a:cs typeface="Etna Sans Serif"/>
                <a:sym typeface="Etna Sans Serif"/>
              </a:rPr>
              <a:t>Qualcosa che </a:t>
            </a:r>
            <a:r>
              <a:rPr lang="en-US" sz="2664">
                <a:solidFill>
                  <a:srgbClr val="FF3131"/>
                </a:solidFill>
                <a:latin typeface="Etna Sans Serif"/>
                <a:ea typeface="Etna Sans Serif"/>
                <a:cs typeface="Etna Sans Serif"/>
                <a:sym typeface="Etna Sans Serif"/>
              </a:rPr>
              <a:t>HAI</a:t>
            </a:r>
          </a:p>
          <a:p>
            <a:pPr algn="l">
              <a:lnSpc>
                <a:spcPts val="2965"/>
              </a:lnSpc>
            </a:pPr>
            <a:r>
              <a:rPr lang="en-US" sz="2164">
                <a:solidFill>
                  <a:srgbClr val="FFFFFF"/>
                </a:solidFill>
                <a:latin typeface="Etna Sans Serif"/>
                <a:ea typeface="Etna Sans Serif"/>
                <a:cs typeface="Etna Sans Serif"/>
                <a:sym typeface="Etna Sans Serif"/>
              </a:rPr>
              <a:t>Esempi: smart card, </a:t>
            </a:r>
          </a:p>
          <a:p>
            <a:pPr algn="l">
              <a:lnSpc>
                <a:spcPts val="2965"/>
              </a:lnSpc>
            </a:pPr>
            <a:r>
              <a:rPr lang="en-US" sz="2164">
                <a:solidFill>
                  <a:srgbClr val="FFFFFF"/>
                </a:solidFill>
                <a:latin typeface="Etna Sans Serif"/>
                <a:ea typeface="Etna Sans Serif"/>
                <a:cs typeface="Etna Sans Serif"/>
                <a:sym typeface="Etna Sans Serif"/>
              </a:rPr>
              <a:t>token fisico,</a:t>
            </a:r>
          </a:p>
          <a:p>
            <a:pPr algn="l">
              <a:lnSpc>
                <a:spcPts val="2965"/>
              </a:lnSpc>
            </a:pPr>
            <a:r>
              <a:rPr lang="en-US" sz="2164">
                <a:solidFill>
                  <a:srgbClr val="FFFFFF"/>
                </a:solidFill>
                <a:latin typeface="Etna Sans Serif"/>
                <a:ea typeface="Etna Sans Serif"/>
                <a:cs typeface="Etna Sans Serif"/>
                <a:sym typeface="Etna Sans Serif"/>
              </a:rPr>
              <a:t>telefono (per OTP), badge NFC</a:t>
            </a:r>
          </a:p>
        </p:txBody>
      </p:sp>
      <p:grpSp>
        <p:nvGrpSpPr>
          <p:cNvPr name="Group 12" id="12"/>
          <p:cNvGrpSpPr/>
          <p:nvPr/>
        </p:nvGrpSpPr>
        <p:grpSpPr>
          <a:xfrm rot="0">
            <a:off x="6817619" y="5058375"/>
            <a:ext cx="392527" cy="392527"/>
            <a:chOff x="0" y="0"/>
            <a:chExt cx="103382" cy="103382"/>
          </a:xfrm>
        </p:grpSpPr>
        <p:sp>
          <p:nvSpPr>
            <p:cNvPr name="Freeform 13" id="13"/>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14" id="14"/>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15" id="15"/>
          <p:cNvSpPr txBox="true"/>
          <p:nvPr/>
        </p:nvSpPr>
        <p:spPr>
          <a:xfrm rot="0">
            <a:off x="7448271" y="5047782"/>
            <a:ext cx="2951337" cy="461338"/>
          </a:xfrm>
          <a:prstGeom prst="rect">
            <a:avLst/>
          </a:prstGeom>
        </p:spPr>
        <p:txBody>
          <a:bodyPr anchor="t" rtlCol="false" tIns="0" lIns="0" bIns="0" rIns="0">
            <a:spAutoFit/>
          </a:bodyPr>
          <a:lstStyle/>
          <a:p>
            <a:pPr algn="l">
              <a:lnSpc>
                <a:spcPts val="3668"/>
              </a:lnSpc>
              <a:spcBef>
                <a:spcPct val="0"/>
              </a:spcBef>
            </a:pPr>
            <a:r>
              <a:rPr lang="en-US" sz="3396">
                <a:solidFill>
                  <a:srgbClr val="FFFFFF"/>
                </a:solidFill>
                <a:latin typeface="Etna Sans Serif"/>
                <a:ea typeface="Etna Sans Serif"/>
                <a:cs typeface="Etna Sans Serif"/>
                <a:sym typeface="Etna Sans Serif"/>
              </a:rPr>
              <a:t>Conoscenza</a:t>
            </a:r>
          </a:p>
        </p:txBody>
      </p:sp>
      <p:sp>
        <p:nvSpPr>
          <p:cNvPr name="TextBox 16" id="16"/>
          <p:cNvSpPr txBox="true"/>
          <p:nvPr/>
        </p:nvSpPr>
        <p:spPr>
          <a:xfrm rot="0">
            <a:off x="7210146" y="5800248"/>
            <a:ext cx="4590117" cy="1557598"/>
          </a:xfrm>
          <a:prstGeom prst="rect">
            <a:avLst/>
          </a:prstGeom>
        </p:spPr>
        <p:txBody>
          <a:bodyPr anchor="t" rtlCol="false" tIns="0" lIns="0" bIns="0" rIns="0">
            <a:spAutoFit/>
          </a:bodyPr>
          <a:lstStyle/>
          <a:p>
            <a:pPr algn="l">
              <a:lnSpc>
                <a:spcPts val="3650"/>
              </a:lnSpc>
            </a:pPr>
            <a:r>
              <a:rPr lang="en-US" sz="2664">
                <a:solidFill>
                  <a:srgbClr val="FFFFFF"/>
                </a:solidFill>
                <a:latin typeface="Etna Sans Serif"/>
                <a:ea typeface="Etna Sans Serif"/>
                <a:cs typeface="Etna Sans Serif"/>
                <a:sym typeface="Etna Sans Serif"/>
              </a:rPr>
              <a:t>Qualcosa che </a:t>
            </a:r>
            <a:r>
              <a:rPr lang="en-US" sz="2664">
                <a:solidFill>
                  <a:srgbClr val="00BF63"/>
                </a:solidFill>
                <a:latin typeface="Etna Sans Serif"/>
                <a:ea typeface="Etna Sans Serif"/>
                <a:cs typeface="Etna Sans Serif"/>
                <a:sym typeface="Etna Sans Serif"/>
              </a:rPr>
              <a:t>SAI</a:t>
            </a:r>
          </a:p>
          <a:p>
            <a:pPr algn="l">
              <a:lnSpc>
                <a:spcPts val="2965"/>
              </a:lnSpc>
            </a:pPr>
            <a:r>
              <a:rPr lang="en-US" sz="2164">
                <a:solidFill>
                  <a:srgbClr val="FFFFFF"/>
                </a:solidFill>
                <a:latin typeface="Etna Sans Serif"/>
                <a:ea typeface="Etna Sans Serif"/>
                <a:cs typeface="Etna Sans Serif"/>
                <a:sym typeface="Etna Sans Serif"/>
              </a:rPr>
              <a:t>Esempi: password, PIN, </a:t>
            </a:r>
          </a:p>
          <a:p>
            <a:pPr algn="l">
              <a:lnSpc>
                <a:spcPts val="2965"/>
              </a:lnSpc>
            </a:pPr>
            <a:r>
              <a:rPr lang="en-US" sz="2164">
                <a:solidFill>
                  <a:srgbClr val="FFFFFF"/>
                </a:solidFill>
                <a:latin typeface="Etna Sans Serif"/>
                <a:ea typeface="Etna Sans Serif"/>
                <a:cs typeface="Etna Sans Serif"/>
                <a:sym typeface="Etna Sans Serif"/>
              </a:rPr>
              <a:t>passphrase, risposta a una domanda segreta</a:t>
            </a:r>
          </a:p>
        </p:txBody>
      </p:sp>
      <p:grpSp>
        <p:nvGrpSpPr>
          <p:cNvPr name="Group 17" id="17"/>
          <p:cNvGrpSpPr/>
          <p:nvPr/>
        </p:nvGrpSpPr>
        <p:grpSpPr>
          <a:xfrm rot="0">
            <a:off x="12427356" y="5079479"/>
            <a:ext cx="392527" cy="392527"/>
            <a:chOff x="0" y="0"/>
            <a:chExt cx="103382" cy="103382"/>
          </a:xfrm>
        </p:grpSpPr>
        <p:sp>
          <p:nvSpPr>
            <p:cNvPr name="Freeform 18" id="18"/>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19" id="19"/>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20" id="20"/>
          <p:cNvSpPr txBox="true"/>
          <p:nvPr/>
        </p:nvSpPr>
        <p:spPr>
          <a:xfrm rot="0">
            <a:off x="13054626" y="5821352"/>
            <a:ext cx="4590117" cy="1557598"/>
          </a:xfrm>
          <a:prstGeom prst="rect">
            <a:avLst/>
          </a:prstGeom>
        </p:spPr>
        <p:txBody>
          <a:bodyPr anchor="t" rtlCol="false" tIns="0" lIns="0" bIns="0" rIns="0">
            <a:spAutoFit/>
          </a:bodyPr>
          <a:lstStyle/>
          <a:p>
            <a:pPr algn="l">
              <a:lnSpc>
                <a:spcPts val="3650"/>
              </a:lnSpc>
            </a:pPr>
            <a:r>
              <a:rPr lang="en-US" sz="2664">
                <a:solidFill>
                  <a:srgbClr val="FFFFFF"/>
                </a:solidFill>
                <a:latin typeface="Etna Sans Serif"/>
                <a:ea typeface="Etna Sans Serif"/>
                <a:cs typeface="Etna Sans Serif"/>
                <a:sym typeface="Etna Sans Serif"/>
              </a:rPr>
              <a:t>Qualcosa che </a:t>
            </a:r>
            <a:r>
              <a:rPr lang="en-US" sz="2664">
                <a:solidFill>
                  <a:srgbClr val="0CC0DF"/>
                </a:solidFill>
                <a:latin typeface="Etna Sans Serif"/>
                <a:ea typeface="Etna Sans Serif"/>
                <a:cs typeface="Etna Sans Serif"/>
                <a:sym typeface="Etna Sans Serif"/>
              </a:rPr>
              <a:t>SEI</a:t>
            </a:r>
          </a:p>
          <a:p>
            <a:pPr algn="l">
              <a:lnSpc>
                <a:spcPts val="2965"/>
              </a:lnSpc>
            </a:pPr>
            <a:r>
              <a:rPr lang="en-US" sz="2164">
                <a:solidFill>
                  <a:srgbClr val="FFFFFF"/>
                </a:solidFill>
                <a:latin typeface="Etna Sans Serif"/>
                <a:ea typeface="Etna Sans Serif"/>
                <a:cs typeface="Etna Sans Serif"/>
                <a:sym typeface="Etna Sans Serif"/>
              </a:rPr>
              <a:t>Esempi: impronta digitale, riconoscimento facciale, </a:t>
            </a:r>
          </a:p>
          <a:p>
            <a:pPr algn="l">
              <a:lnSpc>
                <a:spcPts val="2965"/>
              </a:lnSpc>
            </a:pPr>
            <a:r>
              <a:rPr lang="en-US" sz="2164">
                <a:solidFill>
                  <a:srgbClr val="FFFFFF"/>
                </a:solidFill>
                <a:latin typeface="Etna Sans Serif"/>
                <a:ea typeface="Etna Sans Serif"/>
                <a:cs typeface="Etna Sans Serif"/>
                <a:sym typeface="Etna Sans Serif"/>
              </a:rPr>
              <a:t>voce, retina (biometria)</a:t>
            </a:r>
          </a:p>
        </p:txBody>
      </p:sp>
      <p:sp>
        <p:nvSpPr>
          <p:cNvPr name="TextBox 21" id="21"/>
          <p:cNvSpPr txBox="true"/>
          <p:nvPr/>
        </p:nvSpPr>
        <p:spPr>
          <a:xfrm rot="0">
            <a:off x="13048483" y="5047782"/>
            <a:ext cx="4831116" cy="461338"/>
          </a:xfrm>
          <a:prstGeom prst="rect">
            <a:avLst/>
          </a:prstGeom>
        </p:spPr>
        <p:txBody>
          <a:bodyPr anchor="t" rtlCol="false" tIns="0" lIns="0" bIns="0" rIns="0">
            <a:spAutoFit/>
          </a:bodyPr>
          <a:lstStyle/>
          <a:p>
            <a:pPr algn="l">
              <a:lnSpc>
                <a:spcPts val="3668"/>
              </a:lnSpc>
              <a:spcBef>
                <a:spcPct val="0"/>
              </a:spcBef>
            </a:pPr>
            <a:r>
              <a:rPr lang="en-US" sz="3396">
                <a:solidFill>
                  <a:srgbClr val="FFFFFF"/>
                </a:solidFill>
                <a:latin typeface="Etna Sans Serif"/>
                <a:ea typeface="Etna Sans Serif"/>
                <a:cs typeface="Etna Sans Serif"/>
                <a:sym typeface="Etna Sans Serif"/>
              </a:rPr>
              <a:t>Caratteristiche </a:t>
            </a:r>
          </a:p>
        </p:txBody>
      </p:sp>
      <p:sp>
        <p:nvSpPr>
          <p:cNvPr name="TextBox 22" id="22"/>
          <p:cNvSpPr txBox="true"/>
          <p:nvPr/>
        </p:nvSpPr>
        <p:spPr>
          <a:xfrm rot="0">
            <a:off x="971406" y="2867406"/>
            <a:ext cx="15898306" cy="341376"/>
          </a:xfrm>
          <a:prstGeom prst="rect">
            <a:avLst/>
          </a:prstGeom>
        </p:spPr>
        <p:txBody>
          <a:bodyPr anchor="t" rtlCol="false" tIns="0" lIns="0" bIns="0" rIns="0">
            <a:spAutoFit/>
          </a:bodyPr>
          <a:lstStyle/>
          <a:p>
            <a:pPr algn="ctr">
              <a:lnSpc>
                <a:spcPts val="2592"/>
              </a:lnSpc>
              <a:spcBef>
                <a:spcPct val="0"/>
              </a:spcBef>
            </a:pPr>
            <a:r>
              <a:rPr lang="en-US" sz="2400" spc="302">
                <a:solidFill>
                  <a:srgbClr val="FFFFFF"/>
                </a:solidFill>
                <a:latin typeface="HK Modular"/>
                <a:ea typeface="HK Modular"/>
                <a:cs typeface="HK Modular"/>
                <a:sym typeface="HK Modular"/>
              </a:rPr>
              <a:t>tecniche possibili</a:t>
            </a:r>
          </a:p>
        </p:txBody>
      </p:sp>
      <p:sp>
        <p:nvSpPr>
          <p:cNvPr name="TextBox 23" id="23"/>
          <p:cNvSpPr txBox="true"/>
          <p:nvPr/>
        </p:nvSpPr>
        <p:spPr>
          <a:xfrm rot="0">
            <a:off x="6904433" y="8793480"/>
            <a:ext cx="4032250" cy="448310"/>
          </a:xfrm>
          <a:prstGeom prst="rect">
            <a:avLst/>
          </a:prstGeom>
        </p:spPr>
        <p:txBody>
          <a:bodyPr anchor="t" rtlCol="false" tIns="0" lIns="0" bIns="0" rIns="0">
            <a:spAutoFit/>
          </a:bodyPr>
          <a:lstStyle/>
          <a:p>
            <a:pPr algn="ctr">
              <a:lnSpc>
                <a:spcPts val="3640"/>
              </a:lnSpc>
            </a:pPr>
            <a:r>
              <a:rPr lang="en-US" sz="2600" i="true">
                <a:solidFill>
                  <a:srgbClr val="FFFFFF"/>
                </a:solidFill>
                <a:latin typeface="Canva Sans Italics"/>
                <a:ea typeface="Canva Sans Italics"/>
                <a:cs typeface="Canva Sans Italics"/>
                <a:sym typeface="Canva Sans Italics"/>
              </a:rPr>
              <a:t>Più fattori = più sicurezza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347778" y="3853083"/>
            <a:ext cx="18101404" cy="6870332"/>
          </a:xfrm>
          <a:custGeom>
            <a:avLst/>
            <a:gdLst/>
            <a:ahLst/>
            <a:cxnLst/>
            <a:rect r="r" b="b" t="t" l="l"/>
            <a:pathLst>
              <a:path h="6870332" w="18101404">
                <a:moveTo>
                  <a:pt x="0" y="0"/>
                </a:moveTo>
                <a:lnTo>
                  <a:pt x="18101404" y="0"/>
                </a:lnTo>
                <a:lnTo>
                  <a:pt x="18101404" y="6870332"/>
                </a:lnTo>
                <a:lnTo>
                  <a:pt x="0" y="6870332"/>
                </a:lnTo>
                <a:lnTo>
                  <a:pt x="0" y="0"/>
                </a:lnTo>
                <a:close/>
              </a:path>
            </a:pathLst>
          </a:custGeom>
          <a:blipFill>
            <a:blip r:embed="rId3"/>
            <a:stretch>
              <a:fillRect l="0" t="-1766" r="0" b="0"/>
            </a:stretch>
          </a:blipFill>
        </p:spPr>
      </p:sp>
      <p:sp>
        <p:nvSpPr>
          <p:cNvPr name="TextBox 4" id="4"/>
          <p:cNvSpPr txBox="true"/>
          <p:nvPr/>
        </p:nvSpPr>
        <p:spPr>
          <a:xfrm rot="0">
            <a:off x="347778" y="1751124"/>
            <a:ext cx="17592445" cy="1929270"/>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Le password più utilizzate risultano estremamente deboli, spesso basate su sequenze numeriche o parole comuni. Questo comportamento riflette una diffusa mancanza di consapevolezza sulla sicurezza digitale e rende gli account vulnerabili ad attacchi automatici. È fondamentale adottare password robuste, uniche e supportate da strumenti di gestione sicura.</a:t>
            </a:r>
          </a:p>
        </p:txBody>
      </p:sp>
      <p:sp>
        <p:nvSpPr>
          <p:cNvPr name="TextBox 5" id="5"/>
          <p:cNvSpPr txBox="true"/>
          <p:nvPr/>
        </p:nvSpPr>
        <p:spPr>
          <a:xfrm rot="0">
            <a:off x="1752268" y="526233"/>
            <a:ext cx="15958032" cy="88586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password comuni</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369267" y="4723874"/>
            <a:ext cx="17549466" cy="4848040"/>
          </a:xfrm>
          <a:custGeom>
            <a:avLst/>
            <a:gdLst/>
            <a:ahLst/>
            <a:cxnLst/>
            <a:rect r="r" b="b" t="t" l="l"/>
            <a:pathLst>
              <a:path h="4848040" w="17549466">
                <a:moveTo>
                  <a:pt x="0" y="0"/>
                </a:moveTo>
                <a:lnTo>
                  <a:pt x="17549466" y="0"/>
                </a:lnTo>
                <a:lnTo>
                  <a:pt x="17549466" y="4848040"/>
                </a:lnTo>
                <a:lnTo>
                  <a:pt x="0" y="4848040"/>
                </a:lnTo>
                <a:lnTo>
                  <a:pt x="0" y="0"/>
                </a:lnTo>
                <a:close/>
              </a:path>
            </a:pathLst>
          </a:custGeom>
          <a:blipFill>
            <a:blip r:embed="rId3"/>
            <a:stretch>
              <a:fillRect l="0" t="0" r="0" b="0"/>
            </a:stretch>
          </a:blipFill>
        </p:spPr>
      </p:sp>
      <p:sp>
        <p:nvSpPr>
          <p:cNvPr name="TextBox 4" id="4"/>
          <p:cNvSpPr txBox="true"/>
          <p:nvPr/>
        </p:nvSpPr>
        <p:spPr>
          <a:xfrm rot="0">
            <a:off x="347778" y="2588523"/>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La lunghezza delle password gioca un ruolo fondamentale nella sicurezza: molte sono ancora troppo corte, rendendole vulnerabili agli attacchi. Nonostante la complessità sia spesso enfatizzata, anche la quantità di caratteri è cruciale ma frequentemente trascurata dagli utenti.</a:t>
            </a:r>
          </a:p>
        </p:txBody>
      </p:sp>
      <p:sp>
        <p:nvSpPr>
          <p:cNvPr name="TextBox 5" id="5"/>
          <p:cNvSpPr txBox="true"/>
          <p:nvPr/>
        </p:nvSpPr>
        <p:spPr>
          <a:xfrm rot="0">
            <a:off x="1752268" y="526233"/>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distribuzione lunghezze password</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382109" y="4558579"/>
            <a:ext cx="17523782" cy="5125706"/>
          </a:xfrm>
          <a:custGeom>
            <a:avLst/>
            <a:gdLst/>
            <a:ahLst/>
            <a:cxnLst/>
            <a:rect r="r" b="b" t="t" l="l"/>
            <a:pathLst>
              <a:path h="5125706" w="17523782">
                <a:moveTo>
                  <a:pt x="0" y="0"/>
                </a:moveTo>
                <a:lnTo>
                  <a:pt x="17523782" y="0"/>
                </a:lnTo>
                <a:lnTo>
                  <a:pt x="17523782" y="5125706"/>
                </a:lnTo>
                <a:lnTo>
                  <a:pt x="0" y="5125706"/>
                </a:lnTo>
                <a:lnTo>
                  <a:pt x="0" y="0"/>
                </a:lnTo>
                <a:close/>
              </a:path>
            </a:pathLst>
          </a:custGeom>
          <a:blipFill>
            <a:blip r:embed="rId3"/>
            <a:stretch>
              <a:fillRect l="0" t="0" r="0" b="0"/>
            </a:stretch>
          </a:blipFill>
        </p:spPr>
      </p:sp>
      <p:sp>
        <p:nvSpPr>
          <p:cNvPr name="TextBox 4" id="4"/>
          <p:cNvSpPr txBox="true"/>
          <p:nvPr/>
        </p:nvSpPr>
        <p:spPr>
          <a:xfrm rot="0">
            <a:off x="421500" y="2543881"/>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Una buona password non si basa solo sulla lunghezza, ma anche sulla varietà dei caratteri utilizzati. L’uso combinato di lettere maiuscole, minuscole, numeri e simboli aumenta significativamente la robustezza, mentre sequenze troppo semplici o uniformi restano vulnerabili, anche se lunghe.</a:t>
            </a:r>
          </a:p>
        </p:txBody>
      </p:sp>
      <p:sp>
        <p:nvSpPr>
          <p:cNvPr name="TextBox 5" id="5"/>
          <p:cNvSpPr txBox="true"/>
          <p:nvPr/>
        </p:nvSpPr>
        <p:spPr>
          <a:xfrm rot="0">
            <a:off x="1752268" y="526233"/>
            <a:ext cx="15958032" cy="88586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composizione media</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494657" y="4243739"/>
            <a:ext cx="20465418" cy="3943110"/>
            <a:chOff x="0" y="0"/>
            <a:chExt cx="5390069" cy="1038515"/>
          </a:xfrm>
        </p:grpSpPr>
        <p:sp>
          <p:nvSpPr>
            <p:cNvPr name="Freeform 4" id="4"/>
            <p:cNvSpPr/>
            <p:nvPr/>
          </p:nvSpPr>
          <p:spPr>
            <a:xfrm flipH="false" flipV="false" rot="0">
              <a:off x="0" y="0"/>
              <a:ext cx="5390069" cy="1038515"/>
            </a:xfrm>
            <a:custGeom>
              <a:avLst/>
              <a:gdLst/>
              <a:ahLst/>
              <a:cxnLst/>
              <a:rect r="r" b="b" t="t" l="l"/>
              <a:pathLst>
                <a:path h="1038515" w="5390069">
                  <a:moveTo>
                    <a:pt x="0" y="0"/>
                  </a:moveTo>
                  <a:lnTo>
                    <a:pt x="5390069" y="0"/>
                  </a:lnTo>
                  <a:lnTo>
                    <a:pt x="5390069" y="1038515"/>
                  </a:lnTo>
                  <a:lnTo>
                    <a:pt x="0" y="1038515"/>
                  </a:lnTo>
                  <a:close/>
                </a:path>
              </a:pathLst>
            </a:custGeom>
            <a:gradFill rotWithShape="true">
              <a:gsLst>
                <a:gs pos="0">
                  <a:srgbClr val="071121">
                    <a:alpha val="31000"/>
                  </a:srgbClr>
                </a:gs>
                <a:gs pos="50000">
                  <a:srgbClr val="4F5661">
                    <a:alpha val="24335"/>
                  </a:srgbClr>
                </a:gs>
                <a:gs pos="100000">
                  <a:srgbClr val="060F1F">
                    <a:alpha val="0"/>
                  </a:srgbClr>
                </a:gs>
              </a:gsLst>
              <a:lin ang="0"/>
            </a:gradFill>
          </p:spPr>
        </p:sp>
        <p:sp>
          <p:nvSpPr>
            <p:cNvPr name="TextBox 5" id="5"/>
            <p:cNvSpPr txBox="true"/>
            <p:nvPr/>
          </p:nvSpPr>
          <p:spPr>
            <a:xfrm>
              <a:off x="0" y="0"/>
              <a:ext cx="5390069" cy="1038515"/>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1028700" y="5058375"/>
            <a:ext cx="392527" cy="392527"/>
            <a:chOff x="0" y="0"/>
            <a:chExt cx="103382" cy="103382"/>
          </a:xfrm>
        </p:grpSpPr>
        <p:sp>
          <p:nvSpPr>
            <p:cNvPr name="Freeform 7" id="7"/>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8" id="8"/>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grpSp>
        <p:nvGrpSpPr>
          <p:cNvPr name="Group 9" id="9"/>
          <p:cNvGrpSpPr/>
          <p:nvPr/>
        </p:nvGrpSpPr>
        <p:grpSpPr>
          <a:xfrm rot="0">
            <a:off x="6817619" y="5058375"/>
            <a:ext cx="392527" cy="392527"/>
            <a:chOff x="0" y="0"/>
            <a:chExt cx="103382" cy="103382"/>
          </a:xfrm>
        </p:grpSpPr>
        <p:sp>
          <p:nvSpPr>
            <p:cNvPr name="Freeform 10" id="10"/>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11" id="11"/>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grpSp>
        <p:nvGrpSpPr>
          <p:cNvPr name="Group 12" id="12"/>
          <p:cNvGrpSpPr/>
          <p:nvPr/>
        </p:nvGrpSpPr>
        <p:grpSpPr>
          <a:xfrm rot="0">
            <a:off x="12427356" y="5079479"/>
            <a:ext cx="392527" cy="392527"/>
            <a:chOff x="0" y="0"/>
            <a:chExt cx="103382" cy="103382"/>
          </a:xfrm>
        </p:grpSpPr>
        <p:sp>
          <p:nvSpPr>
            <p:cNvPr name="Freeform 13" id="13"/>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14" id="14"/>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15" id="15"/>
          <p:cNvSpPr txBox="true"/>
          <p:nvPr/>
        </p:nvSpPr>
        <p:spPr>
          <a:xfrm rot="0">
            <a:off x="3542756" y="1794973"/>
            <a:ext cx="11806929" cy="879863"/>
          </a:xfrm>
          <a:prstGeom prst="rect">
            <a:avLst/>
          </a:prstGeom>
        </p:spPr>
        <p:txBody>
          <a:bodyPr anchor="t" rtlCol="false" tIns="0" lIns="0" bIns="0" rIns="0">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PAssword Policy</a:t>
            </a:r>
          </a:p>
        </p:txBody>
      </p:sp>
      <p:sp>
        <p:nvSpPr>
          <p:cNvPr name="TextBox 16" id="16"/>
          <p:cNvSpPr txBox="true"/>
          <p:nvPr/>
        </p:nvSpPr>
        <p:spPr>
          <a:xfrm rot="0">
            <a:off x="1655971" y="5086950"/>
            <a:ext cx="3381292"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Lunghezza</a:t>
            </a:r>
          </a:p>
        </p:txBody>
      </p:sp>
      <p:sp>
        <p:nvSpPr>
          <p:cNvPr name="TextBox 17" id="17"/>
          <p:cNvSpPr txBox="true"/>
          <p:nvPr/>
        </p:nvSpPr>
        <p:spPr>
          <a:xfrm rot="0">
            <a:off x="1655971" y="5809773"/>
            <a:ext cx="4923524" cy="1607572"/>
          </a:xfrm>
          <a:prstGeom prst="rect">
            <a:avLst/>
          </a:prstGeom>
        </p:spPr>
        <p:txBody>
          <a:bodyPr anchor="t" rtlCol="false" tIns="0" lIns="0" bIns="0" rIns="0">
            <a:spAutoFit/>
          </a:bodyPr>
          <a:lstStyle/>
          <a:p>
            <a:pPr algn="l">
              <a:lnSpc>
                <a:spcPts val="2554"/>
              </a:lnSpc>
            </a:pPr>
            <a:r>
              <a:rPr lang="en-US" sz="1864">
                <a:solidFill>
                  <a:srgbClr val="FFFFFF"/>
                </a:solidFill>
                <a:latin typeface="Etna Sans Serif"/>
                <a:ea typeface="Etna Sans Serif"/>
                <a:cs typeface="Etna Sans Serif"/>
                <a:sym typeface="Etna Sans Serif"/>
              </a:rPr>
              <a:t>Secondo il NIST (National Insituite of Standard and Technology), le password devono essere lunghe almeno 8 caratteri. L’uso di composizioni randomiche e password manager è fortemente incoraggiato.</a:t>
            </a:r>
          </a:p>
        </p:txBody>
      </p:sp>
      <p:sp>
        <p:nvSpPr>
          <p:cNvPr name="TextBox 18" id="18"/>
          <p:cNvSpPr txBox="true"/>
          <p:nvPr/>
        </p:nvSpPr>
        <p:spPr>
          <a:xfrm rot="0">
            <a:off x="7444890" y="5108054"/>
            <a:ext cx="3910308" cy="1009597"/>
          </a:xfrm>
          <a:prstGeom prst="rect">
            <a:avLst/>
          </a:prstGeom>
        </p:spPr>
        <p:txBody>
          <a:bodyPr anchor="t" rtlCol="false" tIns="0" lIns="0" bIns="0" rIns="0">
            <a:spAutoFit/>
          </a:bodyPr>
          <a:lstStyle/>
          <a:p>
            <a:pPr algn="l">
              <a:lnSpc>
                <a:spcPts val="2696"/>
              </a:lnSpc>
            </a:pPr>
            <a:r>
              <a:rPr lang="en-US" sz="2496">
                <a:solidFill>
                  <a:srgbClr val="FFFFFF"/>
                </a:solidFill>
                <a:latin typeface="Etna Sans Serif"/>
                <a:ea typeface="Etna Sans Serif"/>
                <a:cs typeface="Etna Sans Serif"/>
                <a:sym typeface="Etna Sans Serif"/>
              </a:rPr>
              <a:t>Blacklist e verifiche</a:t>
            </a:r>
          </a:p>
          <a:p>
            <a:pPr algn="l">
              <a:lnSpc>
                <a:spcPts val="2696"/>
              </a:lnSpc>
            </a:pPr>
          </a:p>
          <a:p>
            <a:pPr algn="l">
              <a:lnSpc>
                <a:spcPts val="2696"/>
              </a:lnSpc>
              <a:spcBef>
                <a:spcPct val="0"/>
              </a:spcBef>
            </a:pPr>
          </a:p>
        </p:txBody>
      </p:sp>
      <p:sp>
        <p:nvSpPr>
          <p:cNvPr name="TextBox 19" id="19"/>
          <p:cNvSpPr txBox="true"/>
          <p:nvPr/>
        </p:nvSpPr>
        <p:spPr>
          <a:xfrm rot="0">
            <a:off x="7444890" y="5809773"/>
            <a:ext cx="4590117" cy="959872"/>
          </a:xfrm>
          <a:prstGeom prst="rect">
            <a:avLst/>
          </a:prstGeom>
        </p:spPr>
        <p:txBody>
          <a:bodyPr anchor="t" rtlCol="false" tIns="0" lIns="0" bIns="0" rIns="0">
            <a:spAutoFit/>
          </a:bodyPr>
          <a:lstStyle/>
          <a:p>
            <a:pPr algn="l">
              <a:lnSpc>
                <a:spcPts val="2554"/>
              </a:lnSpc>
            </a:pPr>
            <a:r>
              <a:rPr lang="en-US" sz="1864">
                <a:solidFill>
                  <a:srgbClr val="FFFFFF"/>
                </a:solidFill>
                <a:latin typeface="Etna Sans Serif"/>
                <a:ea typeface="Etna Sans Serif"/>
                <a:cs typeface="Etna Sans Serif"/>
                <a:sym typeface="Etna Sans Serif"/>
              </a:rPr>
              <a:t>È fondamentale bloccare l’uso di password comuni, compromesse o legate all’utente, confrontandole con blacklist aggiornate.</a:t>
            </a:r>
          </a:p>
        </p:txBody>
      </p:sp>
      <p:sp>
        <p:nvSpPr>
          <p:cNvPr name="TextBox 20" id="20"/>
          <p:cNvSpPr txBox="true"/>
          <p:nvPr/>
        </p:nvSpPr>
        <p:spPr>
          <a:xfrm rot="0">
            <a:off x="13054626" y="5830877"/>
            <a:ext cx="4590117" cy="1283722"/>
          </a:xfrm>
          <a:prstGeom prst="rect">
            <a:avLst/>
          </a:prstGeom>
        </p:spPr>
        <p:txBody>
          <a:bodyPr anchor="t" rtlCol="false" tIns="0" lIns="0" bIns="0" rIns="0">
            <a:spAutoFit/>
          </a:bodyPr>
          <a:lstStyle/>
          <a:p>
            <a:pPr algn="l">
              <a:lnSpc>
                <a:spcPts val="2554"/>
              </a:lnSpc>
            </a:pPr>
            <a:r>
              <a:rPr lang="en-US" sz="1864">
                <a:solidFill>
                  <a:srgbClr val="FFFFFF"/>
                </a:solidFill>
                <a:latin typeface="Etna Sans Serif"/>
                <a:ea typeface="Etna Sans Serif"/>
                <a:cs typeface="Etna Sans Serif"/>
                <a:sym typeface="Etna Sans Serif"/>
              </a:rPr>
              <a:t>Il cambio password va richiesto solo in caso di compromissione. Si consiglia l’uso del copia/incolla e l’adozione dell’autenticazione a più fattori (MFA).</a:t>
            </a:r>
          </a:p>
        </p:txBody>
      </p:sp>
      <p:sp>
        <p:nvSpPr>
          <p:cNvPr name="TextBox 21" id="21"/>
          <p:cNvSpPr txBox="true"/>
          <p:nvPr/>
        </p:nvSpPr>
        <p:spPr>
          <a:xfrm rot="0">
            <a:off x="13058008" y="5097502"/>
            <a:ext cx="4035145" cy="342847"/>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Gestione e rinnovo</a:t>
            </a:r>
          </a:p>
        </p:txBody>
      </p:sp>
      <p:sp>
        <p:nvSpPr>
          <p:cNvPr name="TextBox 22" id="22"/>
          <p:cNvSpPr txBox="true"/>
          <p:nvPr/>
        </p:nvSpPr>
        <p:spPr>
          <a:xfrm rot="0">
            <a:off x="971406" y="2867406"/>
            <a:ext cx="15898306" cy="341376"/>
          </a:xfrm>
          <a:prstGeom prst="rect">
            <a:avLst/>
          </a:prstGeom>
        </p:spPr>
        <p:txBody>
          <a:bodyPr anchor="t" rtlCol="false" tIns="0" lIns="0" bIns="0" rIns="0">
            <a:spAutoFit/>
          </a:bodyPr>
          <a:lstStyle/>
          <a:p>
            <a:pPr algn="ctr">
              <a:lnSpc>
                <a:spcPts val="2592"/>
              </a:lnSpc>
              <a:spcBef>
                <a:spcPct val="0"/>
              </a:spcBef>
            </a:pPr>
            <a:r>
              <a:rPr lang="en-US" sz="2400" spc="302">
                <a:solidFill>
                  <a:srgbClr val="FFFFFF"/>
                </a:solidFill>
                <a:latin typeface="HK Modular"/>
                <a:ea typeface="HK Modular"/>
                <a:cs typeface="HK Modular"/>
                <a:sym typeface="HK Modular"/>
              </a:rPr>
              <a:t>NIST SP 800-63B</a:t>
            </a:r>
          </a:p>
        </p:txBody>
      </p:sp>
      <p:sp>
        <p:nvSpPr>
          <p:cNvPr name="TextBox 23" id="23"/>
          <p:cNvSpPr txBox="true"/>
          <p:nvPr/>
        </p:nvSpPr>
        <p:spPr>
          <a:xfrm rot="0">
            <a:off x="2808683" y="8793480"/>
            <a:ext cx="12223750" cy="448310"/>
          </a:xfrm>
          <a:prstGeom prst="rect">
            <a:avLst/>
          </a:prstGeom>
        </p:spPr>
        <p:txBody>
          <a:bodyPr anchor="t" rtlCol="false" tIns="0" lIns="0" bIns="0" rIns="0">
            <a:spAutoFit/>
          </a:bodyPr>
          <a:lstStyle/>
          <a:p>
            <a:pPr algn="ctr">
              <a:lnSpc>
                <a:spcPts val="3640"/>
              </a:lnSpc>
            </a:pPr>
            <a:r>
              <a:rPr lang="en-US" sz="2600" i="true">
                <a:solidFill>
                  <a:srgbClr val="FFFFFF"/>
                </a:solidFill>
                <a:latin typeface="Canva Sans Italics"/>
                <a:ea typeface="Canva Sans Italics"/>
                <a:cs typeface="Canva Sans Italics"/>
                <a:sym typeface="Canva Sans Italics"/>
              </a:rPr>
              <a:t>Una password sicura inizia da policy moderne, semplici e realmente efficaci.</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50B18"/>
        </a:solidFill>
      </p:bgPr>
    </p:bg>
    <p:spTree>
      <p:nvGrpSpPr>
        <p:cNvPr id="1" name=""/>
        <p:cNvGrpSpPr/>
        <p:nvPr/>
      </p:nvGrpSpPr>
      <p:grpSpPr>
        <a:xfrm>
          <a:off x="0" y="0"/>
          <a:ext cx="0" cy="0"/>
          <a:chOff x="0" y="0"/>
          <a:chExt cx="0" cy="0"/>
        </a:xfrm>
      </p:grpSpPr>
      <p:sp>
        <p:nvSpPr>
          <p:cNvPr name="Freeform 2" id="2"/>
          <p:cNvSpPr/>
          <p:nvPr/>
        </p:nvSpPr>
        <p:spPr>
          <a:xfrm flipH="false" flipV="false" rot="0">
            <a:off x="2332557" y="4437004"/>
            <a:ext cx="13622886" cy="5244811"/>
          </a:xfrm>
          <a:custGeom>
            <a:avLst/>
            <a:gdLst/>
            <a:ahLst/>
            <a:cxnLst/>
            <a:rect r="r" b="b" t="t" l="l"/>
            <a:pathLst>
              <a:path h="5244811" w="13622886">
                <a:moveTo>
                  <a:pt x="0" y="0"/>
                </a:moveTo>
                <a:lnTo>
                  <a:pt x="13622886" y="0"/>
                </a:lnTo>
                <a:lnTo>
                  <a:pt x="13622886" y="5244812"/>
                </a:lnTo>
                <a:lnTo>
                  <a:pt x="0" y="5244812"/>
                </a:lnTo>
                <a:lnTo>
                  <a:pt x="0" y="0"/>
                </a:lnTo>
                <a:close/>
              </a:path>
            </a:pathLst>
          </a:custGeom>
          <a:blipFill>
            <a:blip r:embed="rId2"/>
            <a:stretch>
              <a:fillRect l="0" t="0" r="0" b="0"/>
            </a:stretch>
          </a:blipFill>
        </p:spPr>
      </p:sp>
      <p:sp>
        <p:nvSpPr>
          <p:cNvPr name="TextBox 3" id="3"/>
          <p:cNvSpPr txBox="true"/>
          <p:nvPr/>
        </p:nvSpPr>
        <p:spPr>
          <a:xfrm rot="0">
            <a:off x="347778" y="2507734"/>
            <a:ext cx="17592445" cy="1929270"/>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Le password semplici vengono crackate in pochi secondi. Già a 8 caratteri con combinazioni complesse servono anni. Oltre i 12 caratteri, il tempo di violazione diventa astronomico. Una password lunga e varia è il miglior alleato contro gli attacchi automatici.</a:t>
            </a:r>
          </a:p>
          <a:p>
            <a:pPr algn="ctr">
              <a:lnSpc>
                <a:spcPts val="3899"/>
              </a:lnSpc>
            </a:pPr>
          </a:p>
        </p:txBody>
      </p:sp>
      <p:sp>
        <p:nvSpPr>
          <p:cNvPr name="TextBox 4" id="4"/>
          <p:cNvSpPr txBox="true"/>
          <p:nvPr/>
        </p:nvSpPr>
        <p:spPr>
          <a:xfrm rot="0">
            <a:off x="1752268" y="526233"/>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Fattore di rischio: Complessità</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144835" y="-547517"/>
            <a:ext cx="9030960" cy="11146926"/>
            <a:chOff x="0" y="0"/>
            <a:chExt cx="2378524" cy="2935816"/>
          </a:xfrm>
        </p:grpSpPr>
        <p:sp>
          <p:nvSpPr>
            <p:cNvPr name="Freeform 4" id="4"/>
            <p:cNvSpPr/>
            <p:nvPr/>
          </p:nvSpPr>
          <p:spPr>
            <a:xfrm flipH="false" flipV="false" rot="0">
              <a:off x="0" y="0"/>
              <a:ext cx="2378524" cy="2935816"/>
            </a:xfrm>
            <a:custGeom>
              <a:avLst/>
              <a:gdLst/>
              <a:ahLst/>
              <a:cxnLst/>
              <a:rect r="r" b="b" t="t" l="l"/>
              <a:pathLst>
                <a:path h="2935816" w="2378524">
                  <a:moveTo>
                    <a:pt x="0" y="0"/>
                  </a:moveTo>
                  <a:lnTo>
                    <a:pt x="2378524" y="0"/>
                  </a:lnTo>
                  <a:lnTo>
                    <a:pt x="2378524" y="2935816"/>
                  </a:lnTo>
                  <a:lnTo>
                    <a:pt x="0" y="2935816"/>
                  </a:lnTo>
                  <a:close/>
                </a:path>
              </a:pathLst>
            </a:custGeom>
            <a:gradFill rotWithShape="true">
              <a:gsLst>
                <a:gs pos="0">
                  <a:srgbClr val="071121">
                    <a:alpha val="100000"/>
                  </a:srgbClr>
                </a:gs>
                <a:gs pos="50000">
                  <a:srgbClr val="060F1F">
                    <a:alpha val="78500"/>
                  </a:srgbClr>
                </a:gs>
                <a:gs pos="100000">
                  <a:srgbClr val="060F1F">
                    <a:alpha val="0"/>
                  </a:srgbClr>
                </a:gs>
              </a:gsLst>
              <a:lin ang="0"/>
            </a:gradFill>
          </p:spPr>
        </p:sp>
        <p:sp>
          <p:nvSpPr>
            <p:cNvPr name="TextBox 5" id="5"/>
            <p:cNvSpPr txBox="true"/>
            <p:nvPr/>
          </p:nvSpPr>
          <p:spPr>
            <a:xfrm>
              <a:off x="0" y="0"/>
              <a:ext cx="2378524" cy="2935816"/>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2092719" y="3995095"/>
            <a:ext cx="14371257" cy="2061703"/>
            <a:chOff x="0" y="0"/>
            <a:chExt cx="3785022" cy="543000"/>
          </a:xfrm>
        </p:grpSpPr>
        <p:sp>
          <p:nvSpPr>
            <p:cNvPr name="Freeform 7" id="7"/>
            <p:cNvSpPr/>
            <p:nvPr/>
          </p:nvSpPr>
          <p:spPr>
            <a:xfrm flipH="false" flipV="false" rot="0">
              <a:off x="0" y="0"/>
              <a:ext cx="3785022" cy="543000"/>
            </a:xfrm>
            <a:custGeom>
              <a:avLst/>
              <a:gdLst/>
              <a:ahLst/>
              <a:cxnLst/>
              <a:rect r="r" b="b" t="t" l="l"/>
              <a:pathLst>
                <a:path h="543000" w="3785022">
                  <a:moveTo>
                    <a:pt x="0" y="0"/>
                  </a:moveTo>
                  <a:lnTo>
                    <a:pt x="3785022" y="0"/>
                  </a:lnTo>
                  <a:lnTo>
                    <a:pt x="3785022" y="543000"/>
                  </a:lnTo>
                  <a:lnTo>
                    <a:pt x="0" y="543000"/>
                  </a:lnTo>
                  <a:close/>
                </a:path>
              </a:pathLst>
            </a:custGeom>
            <a:solidFill>
              <a:srgbClr val="000000">
                <a:alpha val="0"/>
              </a:srgbClr>
            </a:solidFill>
            <a:ln w="19050" cap="sq">
              <a:gradFill>
                <a:gsLst>
                  <a:gs pos="0">
                    <a:srgbClr val="FFFFFF">
                      <a:alpha val="100000"/>
                    </a:srgbClr>
                  </a:gs>
                  <a:gs pos="100000">
                    <a:srgbClr val="FFC1C1">
                      <a:alpha val="2500"/>
                    </a:srgbClr>
                  </a:gs>
                </a:gsLst>
                <a:lin ang="0"/>
              </a:gradFill>
              <a:prstDash val="solid"/>
              <a:miter/>
            </a:ln>
          </p:spPr>
        </p:sp>
        <p:sp>
          <p:nvSpPr>
            <p:cNvPr name="TextBox 8" id="8"/>
            <p:cNvSpPr txBox="true"/>
            <p:nvPr/>
          </p:nvSpPr>
          <p:spPr>
            <a:xfrm>
              <a:off x="0" y="0"/>
              <a:ext cx="3785022" cy="543000"/>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2092719" y="4541419"/>
            <a:ext cx="14371257" cy="1054780"/>
          </a:xfrm>
          <a:prstGeom prst="rect">
            <a:avLst/>
          </a:prstGeom>
        </p:spPr>
        <p:txBody>
          <a:bodyPr anchor="t" rtlCol="false" tIns="0" lIns="0" bIns="0" rIns="0">
            <a:spAutoFit/>
          </a:bodyPr>
          <a:lstStyle/>
          <a:p>
            <a:pPr algn="ctr">
              <a:lnSpc>
                <a:spcPts val="8137"/>
              </a:lnSpc>
              <a:spcBef>
                <a:spcPct val="0"/>
              </a:spcBef>
            </a:pPr>
            <a:r>
              <a:rPr lang="en-US" sz="7534" spc="949">
                <a:solidFill>
                  <a:srgbClr val="FFFFFF"/>
                </a:solidFill>
                <a:latin typeface="HK Modular"/>
                <a:ea typeface="HK Modular"/>
                <a:cs typeface="HK Modular"/>
                <a:sym typeface="HK Modular"/>
              </a:rPr>
              <a:t> capitale umano</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620782" y="4259504"/>
            <a:ext cx="20465418" cy="3659127"/>
            <a:chOff x="0" y="0"/>
            <a:chExt cx="5390069" cy="963721"/>
          </a:xfrm>
        </p:grpSpPr>
        <p:sp>
          <p:nvSpPr>
            <p:cNvPr name="Freeform 4" id="4"/>
            <p:cNvSpPr/>
            <p:nvPr/>
          </p:nvSpPr>
          <p:spPr>
            <a:xfrm flipH="false" flipV="false" rot="0">
              <a:off x="0" y="0"/>
              <a:ext cx="5390069" cy="963721"/>
            </a:xfrm>
            <a:custGeom>
              <a:avLst/>
              <a:gdLst/>
              <a:ahLst/>
              <a:cxnLst/>
              <a:rect r="r" b="b" t="t" l="l"/>
              <a:pathLst>
                <a:path h="963721" w="5390069">
                  <a:moveTo>
                    <a:pt x="0" y="0"/>
                  </a:moveTo>
                  <a:lnTo>
                    <a:pt x="5390069" y="0"/>
                  </a:lnTo>
                  <a:lnTo>
                    <a:pt x="5390069" y="963721"/>
                  </a:lnTo>
                  <a:lnTo>
                    <a:pt x="0" y="963721"/>
                  </a:lnTo>
                  <a:close/>
                </a:path>
              </a:pathLst>
            </a:custGeom>
            <a:gradFill rotWithShape="true">
              <a:gsLst>
                <a:gs pos="0">
                  <a:srgbClr val="071121">
                    <a:alpha val="31000"/>
                  </a:srgbClr>
                </a:gs>
                <a:gs pos="50000">
                  <a:srgbClr val="4F5661">
                    <a:alpha val="24335"/>
                  </a:srgbClr>
                </a:gs>
                <a:gs pos="100000">
                  <a:srgbClr val="060F1F">
                    <a:alpha val="0"/>
                  </a:srgbClr>
                </a:gs>
              </a:gsLst>
              <a:lin ang="0"/>
            </a:gradFill>
          </p:spPr>
        </p:sp>
        <p:sp>
          <p:nvSpPr>
            <p:cNvPr name="TextBox 5" id="5"/>
            <p:cNvSpPr txBox="true"/>
            <p:nvPr/>
          </p:nvSpPr>
          <p:spPr>
            <a:xfrm>
              <a:off x="0" y="0"/>
              <a:ext cx="5390069" cy="963721"/>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1028700" y="5058375"/>
            <a:ext cx="392527" cy="392527"/>
            <a:chOff x="0" y="0"/>
            <a:chExt cx="103382" cy="103382"/>
          </a:xfrm>
        </p:grpSpPr>
        <p:sp>
          <p:nvSpPr>
            <p:cNvPr name="Freeform 7" id="7"/>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8" id="8"/>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3131639" y="1794973"/>
            <a:ext cx="11686238" cy="1731107"/>
          </a:xfrm>
          <a:prstGeom prst="rect">
            <a:avLst/>
          </a:prstGeom>
        </p:spPr>
        <p:txBody>
          <a:bodyPr anchor="t" rtlCol="false" tIns="0" lIns="0" bIns="0" rIns="0">
            <a:spAutoFit/>
          </a:bodyPr>
          <a:lstStyle/>
          <a:p>
            <a:pPr algn="ctr">
              <a:lnSpc>
                <a:spcPts val="6753"/>
              </a:lnSpc>
              <a:spcBef>
                <a:spcPct val="0"/>
              </a:spcBef>
            </a:pPr>
            <a:r>
              <a:rPr lang="en-US" sz="6252" spc="787">
                <a:solidFill>
                  <a:srgbClr val="FFFFFF"/>
                </a:solidFill>
                <a:latin typeface="HK Modular"/>
                <a:ea typeface="HK Modular"/>
                <a:cs typeface="HK Modular"/>
                <a:sym typeface="HK Modular"/>
              </a:rPr>
              <a:t>prima linea difensiva</a:t>
            </a:r>
          </a:p>
        </p:txBody>
      </p:sp>
      <p:sp>
        <p:nvSpPr>
          <p:cNvPr name="TextBox 10" id="10"/>
          <p:cNvSpPr txBox="true"/>
          <p:nvPr/>
        </p:nvSpPr>
        <p:spPr>
          <a:xfrm rot="0">
            <a:off x="1655971" y="5039325"/>
            <a:ext cx="4209353" cy="676222"/>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Ruoli e Retribuzioni nella Cybersecurity</a:t>
            </a:r>
          </a:p>
        </p:txBody>
      </p:sp>
      <p:sp>
        <p:nvSpPr>
          <p:cNvPr name="TextBox 11" id="11"/>
          <p:cNvSpPr txBox="true"/>
          <p:nvPr/>
        </p:nvSpPr>
        <p:spPr>
          <a:xfrm rot="0">
            <a:off x="1655971" y="5809773"/>
            <a:ext cx="4923524" cy="1607572"/>
          </a:xfrm>
          <a:prstGeom prst="rect">
            <a:avLst/>
          </a:prstGeom>
        </p:spPr>
        <p:txBody>
          <a:bodyPr anchor="t" rtlCol="false" tIns="0" lIns="0" bIns="0" rIns="0">
            <a:spAutoFit/>
          </a:bodyPr>
          <a:lstStyle/>
          <a:p>
            <a:pPr algn="l">
              <a:lnSpc>
                <a:spcPts val="2554"/>
              </a:lnSpc>
            </a:pPr>
            <a:r>
              <a:rPr lang="en-US" sz="1864">
                <a:solidFill>
                  <a:srgbClr val="FFFFFF"/>
                </a:solidFill>
                <a:latin typeface="Etna Sans Serif"/>
                <a:ea typeface="Etna Sans Serif"/>
                <a:cs typeface="Etna Sans Serif"/>
                <a:sym typeface="Etna Sans Serif"/>
              </a:rPr>
              <a:t>La sicurezza informatica include ruoli specializzati: analisti, ethical hacker, incident responder, ingegneri e manager.</a:t>
            </a:r>
          </a:p>
          <a:p>
            <a:pPr algn="l">
              <a:lnSpc>
                <a:spcPts val="2554"/>
              </a:lnSpc>
            </a:pPr>
            <a:r>
              <a:rPr lang="en-US" sz="1864">
                <a:solidFill>
                  <a:srgbClr val="FFFFFF"/>
                </a:solidFill>
                <a:latin typeface="Etna Sans Serif"/>
                <a:ea typeface="Etna Sans Serif"/>
                <a:cs typeface="Etna Sans Serif"/>
                <a:sym typeface="Etna Sans Serif"/>
              </a:rPr>
              <a:t>Ogni profilo ha retribuzioni variabili in base a responsabilità, competenze e settore.</a:t>
            </a:r>
          </a:p>
        </p:txBody>
      </p:sp>
      <p:grpSp>
        <p:nvGrpSpPr>
          <p:cNvPr name="Group 12" id="12"/>
          <p:cNvGrpSpPr/>
          <p:nvPr/>
        </p:nvGrpSpPr>
        <p:grpSpPr>
          <a:xfrm rot="0">
            <a:off x="6817619" y="5058375"/>
            <a:ext cx="392527" cy="392527"/>
            <a:chOff x="0" y="0"/>
            <a:chExt cx="103382" cy="103382"/>
          </a:xfrm>
        </p:grpSpPr>
        <p:sp>
          <p:nvSpPr>
            <p:cNvPr name="Freeform 13" id="13"/>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14" id="14"/>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15" id="15"/>
          <p:cNvSpPr txBox="true"/>
          <p:nvPr/>
        </p:nvSpPr>
        <p:spPr>
          <a:xfrm rot="0">
            <a:off x="7448271" y="5020275"/>
            <a:ext cx="4129731" cy="676222"/>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Esperienza e Crescita Professionale</a:t>
            </a:r>
          </a:p>
        </p:txBody>
      </p:sp>
      <p:sp>
        <p:nvSpPr>
          <p:cNvPr name="TextBox 16" id="16"/>
          <p:cNvSpPr txBox="true"/>
          <p:nvPr/>
        </p:nvSpPr>
        <p:spPr>
          <a:xfrm rot="0">
            <a:off x="7444890" y="5809773"/>
            <a:ext cx="4590117" cy="1607572"/>
          </a:xfrm>
          <a:prstGeom prst="rect">
            <a:avLst/>
          </a:prstGeom>
        </p:spPr>
        <p:txBody>
          <a:bodyPr anchor="t" rtlCol="false" tIns="0" lIns="0" bIns="0" rIns="0">
            <a:spAutoFit/>
          </a:bodyPr>
          <a:lstStyle/>
          <a:p>
            <a:pPr algn="l">
              <a:lnSpc>
                <a:spcPts val="2554"/>
              </a:lnSpc>
            </a:pPr>
            <a:r>
              <a:rPr lang="en-US" sz="1864">
                <a:solidFill>
                  <a:srgbClr val="FFFFFF"/>
                </a:solidFill>
                <a:latin typeface="Etna Sans Serif"/>
                <a:ea typeface="Etna Sans Serif"/>
                <a:cs typeface="Etna Sans Serif"/>
                <a:sym typeface="Etna Sans Serif"/>
              </a:rPr>
              <a:t>Con l’aumentare dell’esperienza, crescono anche le possibilità di carriera e il compenso.</a:t>
            </a:r>
          </a:p>
          <a:p>
            <a:pPr algn="l">
              <a:lnSpc>
                <a:spcPts val="2554"/>
              </a:lnSpc>
            </a:pPr>
            <a:r>
              <a:rPr lang="en-US" sz="1864">
                <a:solidFill>
                  <a:srgbClr val="FFFFFF"/>
                </a:solidFill>
                <a:latin typeface="Etna Sans Serif"/>
                <a:ea typeface="Etna Sans Serif"/>
                <a:cs typeface="Etna Sans Serif"/>
                <a:sym typeface="Etna Sans Serif"/>
              </a:rPr>
              <a:t>Gli avanzamenti sono particolarmente rilevanti tra i 5 e i 10 anni di attività.</a:t>
            </a:r>
          </a:p>
        </p:txBody>
      </p:sp>
      <p:grpSp>
        <p:nvGrpSpPr>
          <p:cNvPr name="Group 17" id="17"/>
          <p:cNvGrpSpPr/>
          <p:nvPr/>
        </p:nvGrpSpPr>
        <p:grpSpPr>
          <a:xfrm rot="0">
            <a:off x="12427356" y="5079479"/>
            <a:ext cx="392527" cy="392527"/>
            <a:chOff x="0" y="0"/>
            <a:chExt cx="103382" cy="103382"/>
          </a:xfrm>
        </p:grpSpPr>
        <p:sp>
          <p:nvSpPr>
            <p:cNvPr name="Freeform 18" id="18"/>
            <p:cNvSpPr/>
            <p:nvPr/>
          </p:nvSpPr>
          <p:spPr>
            <a:xfrm flipH="false" flipV="false" rot="0">
              <a:off x="0" y="0"/>
              <a:ext cx="103382" cy="103382"/>
            </a:xfrm>
            <a:custGeom>
              <a:avLst/>
              <a:gdLst/>
              <a:ahLst/>
              <a:cxnLst/>
              <a:rect r="r" b="b" t="t" l="l"/>
              <a:pathLst>
                <a:path h="103382" w="103382">
                  <a:moveTo>
                    <a:pt x="0" y="0"/>
                  </a:moveTo>
                  <a:lnTo>
                    <a:pt x="103382" y="0"/>
                  </a:lnTo>
                  <a:lnTo>
                    <a:pt x="103382" y="103382"/>
                  </a:lnTo>
                  <a:lnTo>
                    <a:pt x="0" y="103382"/>
                  </a:lnTo>
                  <a:close/>
                </a:path>
              </a:pathLst>
            </a:custGeom>
            <a:gradFill rotWithShape="true">
              <a:gsLst>
                <a:gs pos="0">
                  <a:srgbClr val="FFFFFF">
                    <a:alpha val="63000"/>
                  </a:srgbClr>
                </a:gs>
                <a:gs pos="100000">
                  <a:srgbClr val="FFC1C1">
                    <a:alpha val="1575"/>
                  </a:srgbClr>
                </a:gs>
              </a:gsLst>
              <a:lin ang="0"/>
            </a:gradFill>
          </p:spPr>
        </p:sp>
        <p:sp>
          <p:nvSpPr>
            <p:cNvPr name="TextBox 19" id="19"/>
            <p:cNvSpPr txBox="true"/>
            <p:nvPr/>
          </p:nvSpPr>
          <p:spPr>
            <a:xfrm>
              <a:off x="0" y="0"/>
              <a:ext cx="103382" cy="103382"/>
            </a:xfrm>
            <a:prstGeom prst="rect">
              <a:avLst/>
            </a:prstGeom>
          </p:spPr>
          <p:txBody>
            <a:bodyPr anchor="ctr" rtlCol="false" tIns="50800" lIns="50800" bIns="50800" rIns="50800"/>
            <a:lstStyle/>
            <a:p>
              <a:pPr algn="ctr">
                <a:lnSpc>
                  <a:spcPts val="1917"/>
                </a:lnSpc>
              </a:pPr>
            </a:p>
          </p:txBody>
        </p:sp>
      </p:grpSp>
      <p:sp>
        <p:nvSpPr>
          <p:cNvPr name="TextBox 20" id="20"/>
          <p:cNvSpPr txBox="true"/>
          <p:nvPr/>
        </p:nvSpPr>
        <p:spPr>
          <a:xfrm rot="0">
            <a:off x="13054626" y="5039325"/>
            <a:ext cx="3872379" cy="676222"/>
          </a:xfrm>
          <a:prstGeom prst="rect">
            <a:avLst/>
          </a:prstGeom>
        </p:spPr>
        <p:txBody>
          <a:bodyPr anchor="t" rtlCol="false" tIns="0" lIns="0" bIns="0" rIns="0">
            <a:spAutoFit/>
          </a:bodyPr>
          <a:lstStyle/>
          <a:p>
            <a:pPr algn="l">
              <a:lnSpc>
                <a:spcPts val="2696"/>
              </a:lnSpc>
              <a:spcBef>
                <a:spcPct val="0"/>
              </a:spcBef>
            </a:pPr>
            <a:r>
              <a:rPr lang="en-US" sz="2496">
                <a:solidFill>
                  <a:srgbClr val="FFFFFF"/>
                </a:solidFill>
                <a:latin typeface="Etna Sans Serif"/>
                <a:ea typeface="Etna Sans Serif"/>
                <a:cs typeface="Etna Sans Serif"/>
                <a:sym typeface="Etna Sans Serif"/>
              </a:rPr>
              <a:t>Lavoro Remoto e Geografia</a:t>
            </a:r>
          </a:p>
        </p:txBody>
      </p:sp>
      <p:sp>
        <p:nvSpPr>
          <p:cNvPr name="TextBox 21" id="21"/>
          <p:cNvSpPr txBox="true"/>
          <p:nvPr/>
        </p:nvSpPr>
        <p:spPr>
          <a:xfrm rot="0">
            <a:off x="13054626" y="5830877"/>
            <a:ext cx="5044579" cy="1862777"/>
          </a:xfrm>
          <a:prstGeom prst="rect">
            <a:avLst/>
          </a:prstGeom>
        </p:spPr>
        <p:txBody>
          <a:bodyPr anchor="t" rtlCol="false" tIns="0" lIns="0" bIns="0" rIns="0">
            <a:spAutoFit/>
          </a:bodyPr>
          <a:lstStyle/>
          <a:p>
            <a:pPr algn="l">
              <a:lnSpc>
                <a:spcPts val="2462"/>
              </a:lnSpc>
            </a:pPr>
            <a:r>
              <a:rPr lang="en-US" sz="1797">
                <a:solidFill>
                  <a:srgbClr val="FFFFFF"/>
                </a:solidFill>
                <a:latin typeface="Etna Sans Serif"/>
                <a:ea typeface="Etna Sans Serif"/>
                <a:cs typeface="Etna Sans Serif"/>
                <a:sym typeface="Etna Sans Serif"/>
              </a:rPr>
              <a:t>Il lavoro remoto è sempre più diffuso, ma non omogeneo: in alcune aziende è uno standard, in altre una rarità.</a:t>
            </a:r>
          </a:p>
          <a:p>
            <a:pPr algn="l">
              <a:lnSpc>
                <a:spcPts val="2462"/>
              </a:lnSpc>
            </a:pPr>
            <a:r>
              <a:rPr lang="en-US" sz="1797">
                <a:solidFill>
                  <a:srgbClr val="FFFFFF"/>
                </a:solidFill>
                <a:latin typeface="Etna Sans Serif"/>
                <a:ea typeface="Etna Sans Serif"/>
                <a:cs typeface="Etna Sans Serif"/>
                <a:sym typeface="Etna Sans Serif"/>
              </a:rPr>
              <a:t>Anche i salari variano sensibilmente da Paese a Paese, riflettendo il divario globale di competenze.</a:t>
            </a:r>
          </a:p>
        </p:txBody>
      </p:sp>
      <p:sp>
        <p:nvSpPr>
          <p:cNvPr name="TextBox 22" id="22"/>
          <p:cNvSpPr txBox="true"/>
          <p:nvPr/>
        </p:nvSpPr>
        <p:spPr>
          <a:xfrm rot="0">
            <a:off x="5767572" y="8727748"/>
            <a:ext cx="6414373" cy="464820"/>
          </a:xfrm>
          <a:prstGeom prst="rect">
            <a:avLst/>
          </a:prstGeom>
        </p:spPr>
        <p:txBody>
          <a:bodyPr anchor="t" rtlCol="false" tIns="0" lIns="0" bIns="0" rIns="0">
            <a:spAutoFit/>
          </a:bodyPr>
          <a:lstStyle/>
          <a:p>
            <a:pPr algn="ctr">
              <a:lnSpc>
                <a:spcPts val="3780"/>
              </a:lnSpc>
            </a:pPr>
            <a:r>
              <a:rPr lang="en-US" sz="2700" i="true">
                <a:solidFill>
                  <a:srgbClr val="FFFFFF"/>
                </a:solidFill>
                <a:latin typeface="Canva Sans Italics"/>
                <a:ea typeface="Canva Sans Italics"/>
                <a:cs typeface="Canva Sans Italics"/>
                <a:sym typeface="Canva Sans Italics"/>
              </a:rPr>
              <a:t>I</a:t>
            </a:r>
            <a:r>
              <a:rPr lang="en-US" sz="2700" i="true">
                <a:solidFill>
                  <a:srgbClr val="FFFFFF"/>
                </a:solidFill>
                <a:latin typeface="Canva Sans Italics"/>
                <a:ea typeface="Canva Sans Italics"/>
                <a:cs typeface="Canva Sans Italics"/>
                <a:sym typeface="Canva Sans Italics"/>
              </a:rPr>
              <a:t>l capitale umano è la vera arma in più</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sp>
        <p:nvSpPr>
          <p:cNvPr name="Freeform 3" id="3"/>
          <p:cNvSpPr/>
          <p:nvPr/>
        </p:nvSpPr>
        <p:spPr>
          <a:xfrm flipH="false" flipV="false" rot="0">
            <a:off x="366524" y="4499250"/>
            <a:ext cx="17554952" cy="5420092"/>
          </a:xfrm>
          <a:custGeom>
            <a:avLst/>
            <a:gdLst/>
            <a:ahLst/>
            <a:cxnLst/>
            <a:rect r="r" b="b" t="t" l="l"/>
            <a:pathLst>
              <a:path h="5420092" w="17554952">
                <a:moveTo>
                  <a:pt x="0" y="0"/>
                </a:moveTo>
                <a:lnTo>
                  <a:pt x="17554952" y="0"/>
                </a:lnTo>
                <a:lnTo>
                  <a:pt x="17554952" y="5420091"/>
                </a:lnTo>
                <a:lnTo>
                  <a:pt x="0" y="5420091"/>
                </a:lnTo>
                <a:lnTo>
                  <a:pt x="0" y="0"/>
                </a:lnTo>
                <a:close/>
              </a:path>
            </a:pathLst>
          </a:custGeom>
          <a:blipFill>
            <a:blip r:embed="rId3"/>
            <a:stretch>
              <a:fillRect l="0" t="0" r="0" b="0"/>
            </a:stretch>
          </a:blipFill>
        </p:spPr>
      </p:sp>
      <p:sp>
        <p:nvSpPr>
          <p:cNvPr name="TextBox 4" id="4"/>
          <p:cNvSpPr txBox="true"/>
          <p:nvPr/>
        </p:nvSpPr>
        <p:spPr>
          <a:xfrm rot="0">
            <a:off x="347778" y="2394428"/>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Le retribuzioni nel settore variano sensibilmente tra i Paesi europei. Alcuni offrono stipendi più elevati e attrattivi, altri mostrano valori più contenuti. Questa differenza può influenzare la distribuzione delle competenze, la competitività delle aziende e le opportunità di carriera per i professionisti del settore.</a:t>
            </a:r>
          </a:p>
        </p:txBody>
      </p:sp>
      <p:sp>
        <p:nvSpPr>
          <p:cNvPr name="TextBox 5" id="5"/>
          <p:cNvSpPr txBox="true"/>
          <p:nvPr/>
        </p:nvSpPr>
        <p:spPr>
          <a:xfrm rot="0">
            <a:off x="1752268" y="526233"/>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salari nella cybersecurity</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50B18"/>
        </a:solidFill>
      </p:bgPr>
    </p:bg>
    <p:spTree>
      <p:nvGrpSpPr>
        <p:cNvPr id="1" name=""/>
        <p:cNvGrpSpPr/>
        <p:nvPr/>
      </p:nvGrpSpPr>
      <p:grpSpPr>
        <a:xfrm>
          <a:off x="0" y="0"/>
          <a:ext cx="0" cy="0"/>
          <a:chOff x="0" y="0"/>
          <a:chExt cx="0" cy="0"/>
        </a:xfrm>
      </p:grpSpPr>
      <p:sp>
        <p:nvSpPr>
          <p:cNvPr name="Freeform 2" id="2"/>
          <p:cNvSpPr/>
          <p:nvPr/>
        </p:nvSpPr>
        <p:spPr>
          <a:xfrm flipH="false" flipV="false" rot="0">
            <a:off x="0" y="5049402"/>
            <a:ext cx="18288000" cy="4503420"/>
          </a:xfrm>
          <a:custGeom>
            <a:avLst/>
            <a:gdLst/>
            <a:ahLst/>
            <a:cxnLst/>
            <a:rect r="r" b="b" t="t" l="l"/>
            <a:pathLst>
              <a:path h="4503420" w="18288000">
                <a:moveTo>
                  <a:pt x="0" y="0"/>
                </a:moveTo>
                <a:lnTo>
                  <a:pt x="18288000" y="0"/>
                </a:lnTo>
                <a:lnTo>
                  <a:pt x="18288000" y="4503420"/>
                </a:lnTo>
                <a:lnTo>
                  <a:pt x="0" y="4503420"/>
                </a:lnTo>
                <a:lnTo>
                  <a:pt x="0" y="0"/>
                </a:lnTo>
                <a:close/>
              </a:path>
            </a:pathLst>
          </a:custGeom>
          <a:blipFill>
            <a:blip r:embed="rId2"/>
            <a:stretch>
              <a:fillRect l="0" t="0" r="0" b="0"/>
            </a:stretch>
          </a:blipFill>
        </p:spPr>
      </p:sp>
      <p:sp>
        <p:nvSpPr>
          <p:cNvPr name="TextBox 3" id="3"/>
          <p:cNvSpPr txBox="true"/>
          <p:nvPr/>
        </p:nvSpPr>
        <p:spPr>
          <a:xfrm rot="0">
            <a:off x="347778" y="2435290"/>
            <a:ext cx="17592445" cy="1929270"/>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La sicurezza informatica copre un’ampia gamma di figure professionali: dai più tecnici (Security Engineer, Threat Analyst, Exploit Developer) ai ruoli strategici (GRC Director, Security Architect, Program Manager).</a:t>
            </a:r>
          </a:p>
          <a:p>
            <a:pPr algn="l">
              <a:lnSpc>
                <a:spcPts val="3899"/>
              </a:lnSpc>
            </a:pPr>
            <a:r>
              <a:rPr lang="en-US" sz="2846">
                <a:solidFill>
                  <a:srgbClr val="FFFFFF"/>
                </a:solidFill>
                <a:latin typeface="Etna Sans Serif"/>
                <a:ea typeface="Etna Sans Serif"/>
                <a:cs typeface="Etna Sans Serif"/>
                <a:sym typeface="Etna Sans Serif"/>
              </a:rPr>
              <a:t>La varietà riflette la complessità crescente del settore e la necessità di competenze sia operative che gestionali.</a:t>
            </a:r>
          </a:p>
        </p:txBody>
      </p:sp>
      <p:sp>
        <p:nvSpPr>
          <p:cNvPr name="TextBox 4" id="4"/>
          <p:cNvSpPr txBox="true"/>
          <p:nvPr/>
        </p:nvSpPr>
        <p:spPr>
          <a:xfrm rot="0">
            <a:off x="1752268" y="526233"/>
            <a:ext cx="15958032" cy="88586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ruoli e mansioni</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50B18"/>
        </a:solidFill>
      </p:bgPr>
    </p:bg>
    <p:spTree>
      <p:nvGrpSpPr>
        <p:cNvPr id="1" name=""/>
        <p:cNvGrpSpPr/>
        <p:nvPr/>
      </p:nvGrpSpPr>
      <p:grpSpPr>
        <a:xfrm>
          <a:off x="0" y="0"/>
          <a:ext cx="0" cy="0"/>
          <a:chOff x="0" y="0"/>
          <a:chExt cx="0" cy="0"/>
        </a:xfrm>
      </p:grpSpPr>
      <p:sp>
        <p:nvSpPr>
          <p:cNvPr name="Freeform 2" id="2"/>
          <p:cNvSpPr/>
          <p:nvPr/>
        </p:nvSpPr>
        <p:spPr>
          <a:xfrm flipH="false" flipV="false" rot="0">
            <a:off x="370910" y="5143500"/>
            <a:ext cx="17569312" cy="4414290"/>
          </a:xfrm>
          <a:custGeom>
            <a:avLst/>
            <a:gdLst/>
            <a:ahLst/>
            <a:cxnLst/>
            <a:rect r="r" b="b" t="t" l="l"/>
            <a:pathLst>
              <a:path h="4414290" w="17569312">
                <a:moveTo>
                  <a:pt x="0" y="0"/>
                </a:moveTo>
                <a:lnTo>
                  <a:pt x="17569312" y="0"/>
                </a:lnTo>
                <a:lnTo>
                  <a:pt x="17569312" y="4414290"/>
                </a:lnTo>
                <a:lnTo>
                  <a:pt x="0" y="4414290"/>
                </a:lnTo>
                <a:lnTo>
                  <a:pt x="0" y="0"/>
                </a:lnTo>
                <a:close/>
              </a:path>
            </a:pathLst>
          </a:custGeom>
          <a:blipFill>
            <a:blip r:embed="rId2"/>
            <a:stretch>
              <a:fillRect l="0" t="0" r="0" b="0"/>
            </a:stretch>
          </a:blipFill>
        </p:spPr>
      </p:sp>
      <p:sp>
        <p:nvSpPr>
          <p:cNvPr name="TextBox 3" id="3"/>
          <p:cNvSpPr txBox="true"/>
          <p:nvPr/>
        </p:nvSpPr>
        <p:spPr>
          <a:xfrm rot="0">
            <a:off x="347778" y="2950683"/>
            <a:ext cx="17592445" cy="14434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Gli stipendi nel settore cybersecurity possono variare drasticamente a seconda del paese ma anche del ruolo.  Le figure più retribuite ricoprono posizioni di alto livello tecnico o responsabilità strategiche, in contesti internazionali ad alta specializzazione. </a:t>
            </a:r>
          </a:p>
        </p:txBody>
      </p:sp>
      <p:sp>
        <p:nvSpPr>
          <p:cNvPr name="TextBox 4" id="4"/>
          <p:cNvSpPr txBox="true"/>
          <p:nvPr/>
        </p:nvSpPr>
        <p:spPr>
          <a:xfrm rot="0">
            <a:off x="1752268" y="526233"/>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mansioni più remunerative</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050B18"/>
        </a:solidFill>
      </p:bgPr>
    </p:bg>
    <p:spTree>
      <p:nvGrpSpPr>
        <p:cNvPr id="1" name=""/>
        <p:cNvGrpSpPr/>
        <p:nvPr/>
      </p:nvGrpSpPr>
      <p:grpSpPr>
        <a:xfrm>
          <a:off x="0" y="0"/>
          <a:ext cx="0" cy="0"/>
          <a:chOff x="0" y="0"/>
          <a:chExt cx="0" cy="0"/>
        </a:xfrm>
      </p:grpSpPr>
      <p:sp>
        <p:nvSpPr>
          <p:cNvPr name="Freeform 2" id="2"/>
          <p:cNvSpPr/>
          <p:nvPr/>
        </p:nvSpPr>
        <p:spPr>
          <a:xfrm flipH="false" flipV="false" rot="0">
            <a:off x="-412207" y="3402318"/>
            <a:ext cx="3487675" cy="1223269"/>
          </a:xfrm>
          <a:custGeom>
            <a:avLst/>
            <a:gdLst/>
            <a:ahLst/>
            <a:cxnLst/>
            <a:rect r="r" b="b" t="t" l="l"/>
            <a:pathLst>
              <a:path h="1223269" w="3487675">
                <a:moveTo>
                  <a:pt x="0" y="0"/>
                </a:moveTo>
                <a:lnTo>
                  <a:pt x="3487676" y="0"/>
                </a:lnTo>
                <a:lnTo>
                  <a:pt x="3487676" y="1223269"/>
                </a:lnTo>
                <a:lnTo>
                  <a:pt x="0" y="1223269"/>
                </a:lnTo>
                <a:lnTo>
                  <a:pt x="0" y="0"/>
                </a:lnTo>
                <a:close/>
              </a:path>
            </a:pathLst>
          </a:custGeom>
          <a:blipFill>
            <a:blip r:embed="rId2">
              <a:alphaModFix amt="18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1361" y="1645317"/>
            <a:ext cx="9579923" cy="8641683"/>
          </a:xfrm>
          <a:custGeom>
            <a:avLst/>
            <a:gdLst/>
            <a:ahLst/>
            <a:cxnLst/>
            <a:rect r="r" b="b" t="t" l="l"/>
            <a:pathLst>
              <a:path h="8641683" w="9579923">
                <a:moveTo>
                  <a:pt x="0" y="0"/>
                </a:moveTo>
                <a:lnTo>
                  <a:pt x="9579923" y="0"/>
                </a:lnTo>
                <a:lnTo>
                  <a:pt x="9579923" y="8641683"/>
                </a:lnTo>
                <a:lnTo>
                  <a:pt x="0" y="8641683"/>
                </a:lnTo>
                <a:lnTo>
                  <a:pt x="0" y="0"/>
                </a:lnTo>
                <a:close/>
              </a:path>
            </a:pathLst>
          </a:custGeom>
          <a:blipFill>
            <a:blip r:embed="rId4"/>
            <a:stretch>
              <a:fillRect l="0" t="0" r="0" b="0"/>
            </a:stretch>
          </a:blipFill>
        </p:spPr>
      </p:sp>
      <p:sp>
        <p:nvSpPr>
          <p:cNvPr name="TextBox 4" id="4"/>
          <p:cNvSpPr txBox="true"/>
          <p:nvPr/>
        </p:nvSpPr>
        <p:spPr>
          <a:xfrm rot="0">
            <a:off x="10571795" y="4136244"/>
            <a:ext cx="7192086" cy="33865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I consulenti di cybersecurity con un livello di esperienza medio, ricevono retribuzioni in modo molto diverso a seconda del paese. Rispetto ai nove paesi analizzati, gli stipendi più alti si trovano in USA e Canada, mentre l’Italia ricopre una delle posizioni più basse.</a:t>
            </a:r>
          </a:p>
          <a:p>
            <a:pPr algn="l">
              <a:lnSpc>
                <a:spcPts val="3899"/>
              </a:lnSpc>
            </a:pPr>
          </a:p>
        </p:txBody>
      </p:sp>
      <p:sp>
        <p:nvSpPr>
          <p:cNvPr name="TextBox 5" id="5"/>
          <p:cNvSpPr txBox="true"/>
          <p:nvPr/>
        </p:nvSpPr>
        <p:spPr>
          <a:xfrm rot="0">
            <a:off x="11372981" y="2231253"/>
            <a:ext cx="6742463" cy="396174"/>
          </a:xfrm>
          <a:prstGeom prst="rect">
            <a:avLst/>
          </a:prstGeom>
        </p:spPr>
        <p:txBody>
          <a:bodyPr anchor="t" rtlCol="false" tIns="0" lIns="0" bIns="0" rIns="0">
            <a:spAutoFit/>
          </a:bodyPr>
          <a:lstStyle/>
          <a:p>
            <a:pPr algn="ctr">
              <a:lnSpc>
                <a:spcPts val="3290"/>
              </a:lnSpc>
            </a:pPr>
            <a:r>
              <a:rPr lang="en-US" sz="2402">
                <a:solidFill>
                  <a:srgbClr val="FFFFFF"/>
                </a:solidFill>
                <a:latin typeface="Etna Sans Serif"/>
                <a:ea typeface="Etna Sans Serif"/>
                <a:cs typeface="Etna Sans Serif"/>
                <a:sym typeface="Etna Sans Serif"/>
              </a:rPr>
              <a:t>(CYBERSECURITY CONSULTANT MID LEVEL)</a:t>
            </a:r>
          </a:p>
        </p:txBody>
      </p:sp>
      <p:sp>
        <p:nvSpPr>
          <p:cNvPr name="TextBox 6" id="6"/>
          <p:cNvSpPr txBox="true"/>
          <p:nvPr/>
        </p:nvSpPr>
        <p:spPr>
          <a:xfrm rot="0">
            <a:off x="1752268" y="526233"/>
            <a:ext cx="15958032" cy="174311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stipendio medio a confronto</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050B18"/>
        </a:solidFill>
      </p:bgPr>
    </p:bg>
    <p:spTree>
      <p:nvGrpSpPr>
        <p:cNvPr id="1" name=""/>
        <p:cNvGrpSpPr/>
        <p:nvPr/>
      </p:nvGrpSpPr>
      <p:grpSpPr>
        <a:xfrm>
          <a:off x="0" y="0"/>
          <a:ext cx="0" cy="0"/>
          <a:chOff x="0" y="0"/>
          <a:chExt cx="0" cy="0"/>
        </a:xfrm>
      </p:grpSpPr>
      <p:sp>
        <p:nvSpPr>
          <p:cNvPr name="TextBox 2" id="2"/>
          <p:cNvSpPr txBox="true"/>
          <p:nvPr/>
        </p:nvSpPr>
        <p:spPr>
          <a:xfrm rot="0">
            <a:off x="1752268" y="526233"/>
            <a:ext cx="15958032" cy="885869"/>
          </a:xfrm>
          <a:prstGeom prst="rect">
            <a:avLst/>
          </a:prstGeom>
        </p:spPr>
        <p:txBody>
          <a:bodyPr anchor="t" rtlCol="false" tIns="0" lIns="0" bIns="0" rIns="0">
            <a:spAutoFit/>
          </a:bodyPr>
          <a:lstStyle/>
          <a:p>
            <a:pPr algn="r">
              <a:lnSpc>
                <a:spcPts val="6753"/>
              </a:lnSpc>
              <a:spcBef>
                <a:spcPct val="0"/>
              </a:spcBef>
            </a:pPr>
            <a:r>
              <a:rPr lang="en-US" sz="6252" spc="787">
                <a:solidFill>
                  <a:srgbClr val="FFFFFF"/>
                </a:solidFill>
                <a:latin typeface="HK Modular"/>
                <a:ea typeface="HK Modular"/>
                <a:cs typeface="HK Modular"/>
                <a:sym typeface="HK Modular"/>
              </a:rPr>
              <a:t>Fonti</a:t>
            </a:r>
          </a:p>
        </p:txBody>
      </p:sp>
      <p:sp>
        <p:nvSpPr>
          <p:cNvPr name="TextBox 3" id="3"/>
          <p:cNvSpPr txBox="true"/>
          <p:nvPr/>
        </p:nvSpPr>
        <p:spPr>
          <a:xfrm rot="0">
            <a:off x="347778" y="1923633"/>
            <a:ext cx="17592445" cy="7272795"/>
          </a:xfrm>
          <a:prstGeom prst="rect">
            <a:avLst/>
          </a:prstGeom>
        </p:spPr>
        <p:txBody>
          <a:bodyPr anchor="t" rtlCol="false" tIns="0" lIns="0" bIns="0" rIns="0">
            <a:spAutoFit/>
          </a:bodyPr>
          <a:lstStyle/>
          <a:p>
            <a:pPr algn="l">
              <a:lnSpc>
                <a:spcPts val="3899"/>
              </a:lnSpc>
            </a:pPr>
            <a:r>
              <a:rPr lang="en-US" sz="2846">
                <a:solidFill>
                  <a:srgbClr val="FFFFFF"/>
                </a:solidFill>
                <a:latin typeface="Etna Sans Serif"/>
                <a:ea typeface="Etna Sans Serif"/>
                <a:cs typeface="Etna Sans Serif"/>
                <a:sym typeface="Etna Sans Serif"/>
              </a:rPr>
              <a:t>Repo</a:t>
            </a:r>
          </a:p>
          <a:p>
            <a:pPr algn="l">
              <a:lnSpc>
                <a:spcPts val="3899"/>
              </a:lnSpc>
            </a:pPr>
            <a:r>
              <a:rPr lang="en-US" sz="2846">
                <a:solidFill>
                  <a:srgbClr val="FFFFFF"/>
                </a:solidFill>
                <a:latin typeface="Etna Sans Serif"/>
                <a:ea typeface="Etna Sans Serif"/>
                <a:cs typeface="Etna Sans Serif"/>
                <a:sym typeface="Etna Sans Serif"/>
              </a:rPr>
              <a:t>https://github.com/fede2968/Visualizzazione-Scientifica</a:t>
            </a:r>
          </a:p>
          <a:p>
            <a:pPr algn="l">
              <a:lnSpc>
                <a:spcPts val="3899"/>
              </a:lnSpc>
            </a:pPr>
          </a:p>
          <a:p>
            <a:pPr algn="l">
              <a:lnSpc>
                <a:spcPts val="3899"/>
              </a:lnSpc>
            </a:pPr>
            <a:r>
              <a:rPr lang="en-US" sz="2846">
                <a:solidFill>
                  <a:srgbClr val="FFFFFF"/>
                </a:solidFill>
                <a:latin typeface="Etna Sans Serif"/>
                <a:ea typeface="Etna Sans Serif"/>
                <a:cs typeface="Etna Sans Serif"/>
                <a:sym typeface="Etna Sans Serif"/>
              </a:rPr>
              <a:t>Dataset </a:t>
            </a:r>
          </a:p>
          <a:p>
            <a:pPr algn="l" marL="614547" indent="-307274" lvl="1">
              <a:lnSpc>
                <a:spcPts val="3899"/>
              </a:lnSpc>
              <a:buFont typeface="Arial"/>
              <a:buChar char="•"/>
            </a:pPr>
            <a:r>
              <a:rPr lang="en-US" sz="2846">
                <a:solidFill>
                  <a:srgbClr val="FFFFFF"/>
                </a:solidFill>
                <a:latin typeface="Etna Sans Serif"/>
                <a:ea typeface="Etna Sans Serif"/>
                <a:cs typeface="Etna Sans Serif"/>
                <a:sym typeface="Etna Sans Serif"/>
              </a:rPr>
              <a:t>https://www.kaggle.com/datasets/ashishraut64/internet-users</a:t>
            </a:r>
          </a:p>
          <a:p>
            <a:pPr algn="l" marL="614547" indent="-307274" lvl="1">
              <a:lnSpc>
                <a:spcPts val="3899"/>
              </a:lnSpc>
              <a:buFont typeface="Arial"/>
              <a:buChar char="•"/>
            </a:pPr>
            <a:r>
              <a:rPr lang="en-US" sz="2846">
                <a:solidFill>
                  <a:srgbClr val="FFFFFF"/>
                </a:solidFill>
                <a:latin typeface="Etna Sans Serif"/>
                <a:ea typeface="Etna Sans Serif"/>
                <a:cs typeface="Etna Sans Serif"/>
                <a:sym typeface="Etna Sans Serif"/>
              </a:rPr>
              <a:t>https://www.kaggle.com/datasets/sanuvishwakarma/cve-dataset</a:t>
            </a:r>
          </a:p>
          <a:p>
            <a:pPr algn="l" marL="614547" indent="-307274" lvl="1">
              <a:lnSpc>
                <a:spcPts val="3899"/>
              </a:lnSpc>
              <a:buFont typeface="Arial"/>
              <a:buChar char="•"/>
            </a:pPr>
            <a:r>
              <a:rPr lang="en-US" sz="2846">
                <a:solidFill>
                  <a:srgbClr val="FFFFFF"/>
                </a:solidFill>
                <a:latin typeface="Etna Sans Serif"/>
                <a:ea typeface="Etna Sans Serif"/>
                <a:cs typeface="Etna Sans Serif"/>
                <a:sym typeface="Etna Sans Serif"/>
              </a:rPr>
              <a:t>https://www.kaggle.com/datasets/atharvasoundankar/global-cybersecurity-threats-2015-2024</a:t>
            </a:r>
          </a:p>
          <a:p>
            <a:pPr algn="l" marL="614547" indent="-307274" lvl="1">
              <a:lnSpc>
                <a:spcPts val="3899"/>
              </a:lnSpc>
              <a:buFont typeface="Arial"/>
              <a:buChar char="•"/>
            </a:pPr>
            <a:r>
              <a:rPr lang="en-US" sz="2846">
                <a:solidFill>
                  <a:srgbClr val="FFFFFF"/>
                </a:solidFill>
                <a:latin typeface="Etna Sans Serif"/>
                <a:ea typeface="Etna Sans Serif"/>
                <a:cs typeface="Etna Sans Serif"/>
                <a:sym typeface="Etna Sans Serif"/>
              </a:rPr>
              <a:t>https://www.kaggle.com/datasets/shivamb/10000-most-common-passwords</a:t>
            </a:r>
          </a:p>
          <a:p>
            <a:pPr algn="l" marL="614547" indent="-307274" lvl="1">
              <a:lnSpc>
                <a:spcPts val="3899"/>
              </a:lnSpc>
              <a:buFont typeface="Arial"/>
              <a:buChar char="•"/>
            </a:pPr>
            <a:r>
              <a:rPr lang="en-US" sz="2846">
                <a:solidFill>
                  <a:srgbClr val="FFFFFF"/>
                </a:solidFill>
                <a:latin typeface="Etna Sans Serif"/>
                <a:ea typeface="Etna Sans Serif"/>
                <a:cs typeface="Etna Sans Serif"/>
                <a:sym typeface="Etna Sans Serif"/>
              </a:rPr>
              <a:t>https://www.hivesystems.com/blog/are-your-passwords-in-the-green?utm_source=tabletext</a:t>
            </a:r>
          </a:p>
          <a:p>
            <a:pPr algn="l" marL="614547" indent="-307274" lvl="1">
              <a:lnSpc>
                <a:spcPts val="3899"/>
              </a:lnSpc>
              <a:buFont typeface="Arial"/>
              <a:buChar char="•"/>
            </a:pPr>
            <a:r>
              <a:rPr lang="en-US" sz="2846">
                <a:solidFill>
                  <a:srgbClr val="FFFFFF"/>
                </a:solidFill>
                <a:latin typeface="Etna Sans Serif"/>
                <a:ea typeface="Etna Sans Serif"/>
                <a:cs typeface="Etna Sans Serif"/>
                <a:sym typeface="Etna Sans Serif"/>
              </a:rPr>
              <a:t>https://www.kaggle.com/datasets/infosecjobs/global-salaries-in-cybersecurity-infosec</a:t>
            </a:r>
          </a:p>
          <a:p>
            <a:pPr algn="l">
              <a:lnSpc>
                <a:spcPts val="3899"/>
              </a:lnSpc>
            </a:pPr>
          </a:p>
          <a:p>
            <a:pPr algn="l">
              <a:lnSpc>
                <a:spcPts val="3899"/>
              </a:lnSpc>
            </a:pPr>
            <a:r>
              <a:rPr lang="en-US" sz="2846">
                <a:solidFill>
                  <a:srgbClr val="FFFFFF"/>
                </a:solidFill>
                <a:latin typeface="Etna Sans Serif"/>
                <a:ea typeface="Etna Sans Serif"/>
                <a:cs typeface="Etna Sans Serif"/>
                <a:sym typeface="Etna Sans Serif"/>
              </a:rPr>
              <a:t>Altre fonti:</a:t>
            </a:r>
          </a:p>
          <a:p>
            <a:pPr algn="l" marL="614547" indent="-307274" lvl="1">
              <a:lnSpc>
                <a:spcPts val="3899"/>
              </a:lnSpc>
              <a:buFont typeface="Arial"/>
              <a:buChar char="•"/>
            </a:pPr>
            <a:r>
              <a:rPr lang="en-US" sz="2846">
                <a:solidFill>
                  <a:srgbClr val="FFFFFF"/>
                </a:solidFill>
                <a:latin typeface="Etna Sans Serif"/>
                <a:ea typeface="Etna Sans Serif"/>
                <a:cs typeface="Etna Sans Serif"/>
                <a:sym typeface="Etna Sans Serif"/>
              </a:rPr>
              <a:t>https://cwe.mitre.org/data/definitions/120.html#Vulnerability_Mapping_Notes_120</a:t>
            </a:r>
          </a:p>
          <a:p>
            <a:pPr algn="l" marL="614547" indent="-307274" lvl="1">
              <a:lnSpc>
                <a:spcPts val="3899"/>
              </a:lnSpc>
              <a:buFont typeface="Arial"/>
              <a:buChar char="•"/>
            </a:pPr>
            <a:r>
              <a:rPr lang="en-US" sz="2846">
                <a:solidFill>
                  <a:srgbClr val="FFFFFF"/>
                </a:solidFill>
                <a:latin typeface="Etna Sans Serif"/>
                <a:ea typeface="Etna Sans Serif"/>
                <a:cs typeface="Etna Sans Serif"/>
                <a:sym typeface="Etna Sans Serif"/>
              </a:rPr>
              <a:t>https://www.nist.gov/</a:t>
            </a:r>
          </a:p>
          <a:p>
            <a:pPr algn="l">
              <a:lnSpc>
                <a:spcPts val="3899"/>
              </a:lnSpc>
            </a:pP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5555" r="0" b="-5555"/>
            </a:stretch>
          </a:blipFill>
        </p:spPr>
      </p:sp>
      <p:grpSp>
        <p:nvGrpSpPr>
          <p:cNvPr name="Group 3" id="3"/>
          <p:cNvGrpSpPr/>
          <p:nvPr/>
        </p:nvGrpSpPr>
        <p:grpSpPr>
          <a:xfrm rot="0">
            <a:off x="-686257" y="-751827"/>
            <a:ext cx="9030960" cy="11146926"/>
            <a:chOff x="0" y="0"/>
            <a:chExt cx="2378524" cy="2935816"/>
          </a:xfrm>
        </p:grpSpPr>
        <p:sp>
          <p:nvSpPr>
            <p:cNvPr name="Freeform 4" id="4"/>
            <p:cNvSpPr/>
            <p:nvPr/>
          </p:nvSpPr>
          <p:spPr>
            <a:xfrm flipH="false" flipV="false" rot="0">
              <a:off x="0" y="0"/>
              <a:ext cx="2378524" cy="2935816"/>
            </a:xfrm>
            <a:custGeom>
              <a:avLst/>
              <a:gdLst/>
              <a:ahLst/>
              <a:cxnLst/>
              <a:rect r="r" b="b" t="t" l="l"/>
              <a:pathLst>
                <a:path h="2935816" w="2378524">
                  <a:moveTo>
                    <a:pt x="0" y="0"/>
                  </a:moveTo>
                  <a:lnTo>
                    <a:pt x="2378524" y="0"/>
                  </a:lnTo>
                  <a:lnTo>
                    <a:pt x="2378524" y="2935816"/>
                  </a:lnTo>
                  <a:lnTo>
                    <a:pt x="0" y="2935816"/>
                  </a:lnTo>
                  <a:close/>
                </a:path>
              </a:pathLst>
            </a:custGeom>
            <a:gradFill rotWithShape="true">
              <a:gsLst>
                <a:gs pos="0">
                  <a:srgbClr val="071121">
                    <a:alpha val="100000"/>
                  </a:srgbClr>
                </a:gs>
                <a:gs pos="50000">
                  <a:srgbClr val="060F1F">
                    <a:alpha val="78500"/>
                  </a:srgbClr>
                </a:gs>
                <a:gs pos="100000">
                  <a:srgbClr val="060F1F">
                    <a:alpha val="0"/>
                  </a:srgbClr>
                </a:gs>
              </a:gsLst>
              <a:lin ang="0"/>
            </a:gradFill>
          </p:spPr>
        </p:sp>
        <p:sp>
          <p:nvSpPr>
            <p:cNvPr name="TextBox 5" id="5"/>
            <p:cNvSpPr txBox="true"/>
            <p:nvPr/>
          </p:nvSpPr>
          <p:spPr>
            <a:xfrm>
              <a:off x="0" y="0"/>
              <a:ext cx="2378524" cy="2935816"/>
            </a:xfrm>
            <a:prstGeom prst="rect">
              <a:avLst/>
            </a:prstGeom>
          </p:spPr>
          <p:txBody>
            <a:bodyPr anchor="ctr" rtlCol="false" tIns="50800" lIns="50800" bIns="50800" rIns="50800"/>
            <a:lstStyle/>
            <a:p>
              <a:pPr algn="ctr">
                <a:lnSpc>
                  <a:spcPts val="1917"/>
                </a:lnSpc>
              </a:pPr>
            </a:p>
          </p:txBody>
        </p:sp>
      </p:grpSp>
      <p:grpSp>
        <p:nvGrpSpPr>
          <p:cNvPr name="Group 6" id="6"/>
          <p:cNvGrpSpPr/>
          <p:nvPr/>
        </p:nvGrpSpPr>
        <p:grpSpPr>
          <a:xfrm rot="0">
            <a:off x="2092719" y="3995095"/>
            <a:ext cx="14371257" cy="2061703"/>
            <a:chOff x="0" y="0"/>
            <a:chExt cx="3785022" cy="543000"/>
          </a:xfrm>
        </p:grpSpPr>
        <p:sp>
          <p:nvSpPr>
            <p:cNvPr name="Freeform 7" id="7"/>
            <p:cNvSpPr/>
            <p:nvPr/>
          </p:nvSpPr>
          <p:spPr>
            <a:xfrm flipH="false" flipV="false" rot="0">
              <a:off x="0" y="0"/>
              <a:ext cx="3785022" cy="543000"/>
            </a:xfrm>
            <a:custGeom>
              <a:avLst/>
              <a:gdLst/>
              <a:ahLst/>
              <a:cxnLst/>
              <a:rect r="r" b="b" t="t" l="l"/>
              <a:pathLst>
                <a:path h="543000" w="3785022">
                  <a:moveTo>
                    <a:pt x="0" y="0"/>
                  </a:moveTo>
                  <a:lnTo>
                    <a:pt x="3785022" y="0"/>
                  </a:lnTo>
                  <a:lnTo>
                    <a:pt x="3785022" y="543000"/>
                  </a:lnTo>
                  <a:lnTo>
                    <a:pt x="0" y="543000"/>
                  </a:lnTo>
                  <a:close/>
                </a:path>
              </a:pathLst>
            </a:custGeom>
            <a:solidFill>
              <a:srgbClr val="000000">
                <a:alpha val="0"/>
              </a:srgbClr>
            </a:solidFill>
            <a:ln w="19050" cap="sq">
              <a:gradFill>
                <a:gsLst>
                  <a:gs pos="0">
                    <a:srgbClr val="FFFFFF">
                      <a:alpha val="100000"/>
                    </a:srgbClr>
                  </a:gs>
                  <a:gs pos="100000">
                    <a:srgbClr val="FFC1C1">
                      <a:alpha val="2500"/>
                    </a:srgbClr>
                  </a:gs>
                </a:gsLst>
                <a:lin ang="0"/>
              </a:gradFill>
              <a:prstDash val="solid"/>
              <a:miter/>
            </a:ln>
          </p:spPr>
        </p:sp>
        <p:sp>
          <p:nvSpPr>
            <p:cNvPr name="TextBox 8" id="8"/>
            <p:cNvSpPr txBox="true"/>
            <p:nvPr/>
          </p:nvSpPr>
          <p:spPr>
            <a:xfrm>
              <a:off x="0" y="0"/>
              <a:ext cx="3785022" cy="543000"/>
            </a:xfrm>
            <a:prstGeom prst="rect">
              <a:avLst/>
            </a:prstGeom>
          </p:spPr>
          <p:txBody>
            <a:bodyPr anchor="ctr" rtlCol="false" tIns="50800" lIns="50800" bIns="50800" rIns="50800"/>
            <a:lstStyle/>
            <a:p>
              <a:pPr algn="ctr">
                <a:lnSpc>
                  <a:spcPts val="1917"/>
                </a:lnSpc>
              </a:pPr>
            </a:p>
          </p:txBody>
        </p:sp>
      </p:grpSp>
      <p:sp>
        <p:nvSpPr>
          <p:cNvPr name="TextBox 9" id="9"/>
          <p:cNvSpPr txBox="true"/>
          <p:nvPr/>
        </p:nvSpPr>
        <p:spPr>
          <a:xfrm rot="0">
            <a:off x="2351178" y="4028578"/>
            <a:ext cx="13585644" cy="2080462"/>
          </a:xfrm>
          <a:prstGeom prst="rect">
            <a:avLst/>
          </a:prstGeom>
        </p:spPr>
        <p:txBody>
          <a:bodyPr anchor="t" rtlCol="false" tIns="0" lIns="0" bIns="0" rIns="0">
            <a:spAutoFit/>
          </a:bodyPr>
          <a:lstStyle/>
          <a:p>
            <a:pPr algn="ctr">
              <a:lnSpc>
                <a:spcPts val="8137"/>
              </a:lnSpc>
              <a:spcBef>
                <a:spcPct val="0"/>
              </a:spcBef>
            </a:pPr>
            <a:r>
              <a:rPr lang="en-US" sz="7534" spc="949">
                <a:solidFill>
                  <a:srgbClr val="FFFFFF"/>
                </a:solidFill>
                <a:latin typeface="HK Modular"/>
                <a:ea typeface="HK Modular"/>
                <a:cs typeface="HK Modular"/>
                <a:sym typeface="HK Modular"/>
              </a:rPr>
              <a:t>Grazie per l’attenzione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DAGkisV8abo</dc:identifier>
  <dcterms:modified xsi:type="dcterms:W3CDTF">2011-08-01T06:04:30Z</dcterms:modified>
  <cp:revision>1</cp:revision>
  <dc:title>Cybersecurity - Visualizzazione Scientifica Bianchi-Colombo</dc:title>
</cp:coreProperties>
</file>